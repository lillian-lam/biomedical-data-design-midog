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1"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y="5143500" cx="9144000"/>
  <p:notesSz cx="6858000" cy="9144000"/>
  <p:embeddedFontLst>
    <p:embeddedFont>
      <p:font typeface="Rosarivo"/>
      <p:regular r:id="rId22"/>
      <p:italic r:id="rId23"/>
    </p:embeddedFont>
    <p:embeddedFont>
      <p:font typeface="Candara"/>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Naina Misr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AF31590-B60A-4011-993D-F8EC251B621B}">
  <a:tblStyle styleId="{8AF31590-B60A-4011-993D-F8EC251B621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font" Target="fonts/Rosarivo-regular.fntdata"/><Relationship Id="rId21" Type="http://schemas.openxmlformats.org/officeDocument/2006/relationships/slide" Target="slides/slide13.xml"/><Relationship Id="rId24" Type="http://schemas.openxmlformats.org/officeDocument/2006/relationships/font" Target="fonts/Candara-regular.fntdata"/><Relationship Id="rId23" Type="http://schemas.openxmlformats.org/officeDocument/2006/relationships/font" Target="fonts/Rosariv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Candara-italic.fntdata"/><Relationship Id="rId25" Type="http://schemas.openxmlformats.org/officeDocument/2006/relationships/font" Target="fonts/Candara-bold.fntdata"/><Relationship Id="rId27" Type="http://schemas.openxmlformats.org/officeDocument/2006/relationships/font" Target="fonts/Candara-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slideMaster" Target="slideMasters/slideMaster2.xml"/><Relationship Id="rId8" Type="http://schemas.openxmlformats.org/officeDocument/2006/relationships/notesMaster" Target="notesMasters/notesMaster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24T20:38:24.280">
    <p:pos x="95" y="83"/>
    <p:text>run color jitter/rotations/etc. separately and then perhaps combine them all at the end. post results for each. f1 score for each and confusion matrix for each. do test and validation. run traintestsplit on test set, change it to 0.5.</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c7c678eab2_2_46:notes"/>
          <p:cNvSpPr txBox="1"/>
          <p:nvPr>
            <p:ph idx="1" type="body"/>
          </p:nvPr>
        </p:nvSpPr>
        <p:spPr>
          <a:xfrm>
            <a:off x="686599" y="4401236"/>
            <a:ext cx="5486661" cy="3599851"/>
          </a:xfrm>
          <a:prstGeom prst="rect">
            <a:avLst/>
          </a:prstGeom>
          <a:noFill/>
          <a:ln>
            <a:noFill/>
          </a:ln>
        </p:spPr>
        <p:txBody>
          <a:bodyPr anchorCtr="0" anchor="t" bIns="86075" lIns="86075" spcFirstLastPara="1" rIns="86075" wrap="square" tIns="86075">
            <a:noAutofit/>
          </a:bodyPr>
          <a:lstStyle/>
          <a:p>
            <a:pPr indent="0" lvl="0" marL="0" rtl="0" algn="l">
              <a:lnSpc>
                <a:spcPct val="115000"/>
              </a:lnSpc>
              <a:spcBef>
                <a:spcPts val="0"/>
              </a:spcBef>
              <a:spcAft>
                <a:spcPts val="0"/>
              </a:spcAft>
              <a:buClr>
                <a:schemeClr val="dk1"/>
              </a:buClr>
              <a:buSzPts val="1100"/>
              <a:buFont typeface="Arial"/>
              <a:buNone/>
            </a:pPr>
            <a:r>
              <a:rPr lang="zh-CN"/>
              <a:t>Hi everyone! This is our weekly update for the mitotic identification </a:t>
            </a:r>
            <a:r>
              <a:rPr lang="zh-CN"/>
              <a:t>group</a:t>
            </a:r>
            <a:r>
              <a:rPr lang="zh-CN"/>
              <a:t> and today we’ll walk through the data augmentation approach for our histopathology pipeline that we’ve been working on for the past week.</a:t>
            </a:r>
            <a:endParaRPr/>
          </a:p>
          <a:p>
            <a:pPr indent="0" lvl="0" marL="0" rtl="0" algn="l">
              <a:lnSpc>
                <a:spcPct val="115000"/>
              </a:lnSpc>
              <a:spcBef>
                <a:spcPts val="0"/>
              </a:spcBef>
              <a:spcAft>
                <a:spcPts val="0"/>
              </a:spcAft>
              <a:buClr>
                <a:schemeClr val="dk1"/>
              </a:buClr>
              <a:buSzPts val="1100"/>
              <a:buFont typeface="Arial"/>
              <a:buNone/>
            </a:pPr>
            <a:r>
              <a:rPr lang="zh-CN"/>
              <a:t>The goal of this section is simple: because we’re working with limited data, we’re using augmentation to increase effective variety in training, and we’ll summarize what we tried, our results, and what we plan to do next.</a:t>
            </a:r>
            <a:endParaRPr/>
          </a:p>
          <a:p>
            <a:pPr indent="0" lvl="0" marL="0" rtl="0" algn="l">
              <a:lnSpc>
                <a:spcPct val="100000"/>
              </a:lnSpc>
              <a:spcBef>
                <a:spcPts val="0"/>
              </a:spcBef>
              <a:spcAft>
                <a:spcPts val="0"/>
              </a:spcAft>
              <a:buSzPts val="1100"/>
              <a:buNone/>
            </a:pPr>
            <a:r>
              <a:t/>
            </a:r>
            <a:endParaRPr/>
          </a:p>
        </p:txBody>
      </p:sp>
      <p:sp>
        <p:nvSpPr>
          <p:cNvPr id="98" name="Google Shape;98;g3c7c678eab2_2_46:notes"/>
          <p:cNvSpPr/>
          <p:nvPr>
            <p:ph idx="2" type="sldImg"/>
          </p:nvPr>
        </p:nvSpPr>
        <p:spPr>
          <a:xfrm>
            <a:off x="465906" y="1143215"/>
            <a:ext cx="5928046" cy="308639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7c678eab2_2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c7c678eab2_2_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CN">
                <a:solidFill>
                  <a:schemeClr val="dk1"/>
                </a:solidFill>
              </a:rPr>
              <a:t>Let me briefly recap our methodology. We‘re using CTransPath, a transformer-based feature extractor pretrained on histo pathology images. For each whole slide image, we extract patches, run them through CTransPath to get 768-dimensional feature vectors.</a:t>
            </a:r>
            <a:endParaRPr>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zh-CN" sz="1050">
                <a:solidFill>
                  <a:schemeClr val="dk1"/>
                </a:solidFill>
                <a:latin typeface="Times New Roman"/>
                <a:ea typeface="Times New Roman"/>
                <a:cs typeface="Times New Roman"/>
                <a:sym typeface="Times New Roman"/>
              </a:rPr>
              <a:t> </a:t>
            </a:r>
            <a:endParaRPr sz="1050">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zh-CN">
                <a:solidFill>
                  <a:schemeClr val="dk1"/>
                </a:solidFill>
              </a:rPr>
              <a:t>We also experimented with stain normalization using CycleGAN to see if we can reduce domain shifts by making images from different scanners look more similar before feature extraction.</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7c678eab2_2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c7c678eab2_2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CN">
                <a:solidFill>
                  <a:schemeClr val="dk1"/>
                </a:solidFill>
              </a:rPr>
              <a:t>Over the past weeks, we had worked to quantify the domain shift of our dataset. We had previously </a:t>
            </a:r>
            <a:r>
              <a:rPr lang="zh-CN">
                <a:solidFill>
                  <a:schemeClr val="dk1"/>
                </a:solidFill>
              </a:rPr>
              <a:t>talked</a:t>
            </a:r>
            <a:r>
              <a:rPr lang="zh-CN">
                <a:solidFill>
                  <a:schemeClr val="dk1"/>
                </a:solidFill>
              </a:rPr>
              <a:t> about creating a similarity matrix to input into our training and having an H&amp;E to RNAseq gene incorporation into the final model. Now, we are moving on to actually testing a basic version of our model, which is a classifier with a Resnet50 backbone.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7c678eab2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c7c678eab2_2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zh-CN"/>
              <a:t>We tested the model </a:t>
            </a:r>
            <a:r>
              <a:rPr lang="zh-CN"/>
              <a:t>without</a:t>
            </a:r>
            <a:r>
              <a:rPr lang="zh-CN"/>
              <a:t> any changes to the images themselves, and then</a:t>
            </a:r>
            <a:r>
              <a:rPr lang="zh-CN"/>
              <a:t> moved on to the next step, data augmentation, in order to train a more capable model. Just as a quick introduction to what data augmentation is - it is essentially a technique that enables us to work with limited datasets, which are a common problem in machine learning, by copying and modifying existing images.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zh-CN"/>
              <a:t>There are multiple methods to transform these images, some of which are up on the slide here, including colorjitter (changes the brightness), grayscale, and gaussian blur. There’s also cutmix, which cuts and pastes a part of one image over another image, and other things like crops and rotations. The goal is to improve the variety of images presented to the model for training so that it becomes more generalizable for novel image inputs.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lnSpc>
                <a:spcPct val="115000"/>
              </a:lnSpc>
              <a:spcBef>
                <a:spcPts val="0"/>
              </a:spcBef>
              <a:spcAft>
                <a:spcPts val="0"/>
              </a:spcAft>
              <a:buClr>
                <a:schemeClr val="dk1"/>
              </a:buClr>
              <a:buSzPts val="1100"/>
              <a:buFont typeface="Arial"/>
              <a:buNone/>
            </a:pPr>
            <a:r>
              <a:rPr lang="zh-CN"/>
              <a:t>For our dataset, we are working with about 500 total images, which we split into train/val/test sets at a 80:10:10 ratio, so our training set is roughly about 400 images, which might not necessarily be enough to encapsulate the full diversity of possible tumor histopathologies and lab and scanner differences, so we hoped to be able to use these tools to improve its overall performance.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cb1494d40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cb1494d40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This is our initial model with no augmentation performed on the images. We can see here that validation loss is pretty high in comparison to training loss, and although the model fits to the training data well in the later epochs, evidenced by the training accuracy, the validation accuracy goes up and then flatlines around 80%. For the confusion matrix, I’ve added a handy key here to help identify what the values stand for, but we can see a pretty high number of false negatives, and the recall we got was about 0.74. From this, we can tell that the model is overfit to the training dataset.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cb1494d4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cb1494d4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For our first test, we used colorjitter, which changes the image brightness. There are a couple samples here of what the images look like before and after applying it on the right. The best test accuracy was about 82%, but as we can see here we have a consistently high validation loss and low validation accuracy in comparison to our training metrics, which means the model is overfitting on the training set.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cb1494d40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cb1494d40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Next, we used grayscale, which we randomly applied to about 30% of the images. The best accuracy we got was similar (83%), and the loss and accuracy graphs are showing similar patterns.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cb1494d40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cb1494d40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Gaussian blur was applied to 30% of images as well, and once again we are seeing the same trends for the graphs.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cb1494d40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cb1494d40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Finally, we used cut</a:t>
            </a:r>
            <a:r>
              <a:rPr lang="zh-CN"/>
              <a:t>mix, applying it to 50% of the images. </a:t>
            </a:r>
            <a:r>
              <a:rPr lang="zh-CN">
                <a:solidFill>
                  <a:schemeClr val="dk1"/>
                </a:solidFill>
              </a:rPr>
              <a:t>What’s interesting is the training dynamics: training accuracy is </a:t>
            </a:r>
            <a:r>
              <a:rPr i="1" lang="zh-CN">
                <a:solidFill>
                  <a:schemeClr val="dk1"/>
                </a:solidFill>
              </a:rPr>
              <a:t>lower</a:t>
            </a:r>
            <a:r>
              <a:rPr lang="zh-CN">
                <a:solidFill>
                  <a:schemeClr val="dk1"/>
                </a:solidFill>
              </a:rPr>
              <a:t> here, in the high 80s or so instead of the high 90s. So, CutMix is regularizing and making the task harder.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But validation accuracy still sits around 80–81%, so even though CutMix reduces overconfidence/overfitting, it doesn’t exactly translate into a validation jump.</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zh-CN">
                <a:solidFill>
                  <a:schemeClr val="dk1"/>
                </a:solidFill>
              </a:rPr>
              <a:t>On the test report, best test accuracy is about 82.3% and the sensitivity is still around 0.78, so we’re not solving the mitotic recall gap yet.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cb1494d40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cb1494d40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a:t>At the end, we trained using all of the four types of augmentation at the same time. The confusion matrix shows more mitotic false negatives (529), and as we can see here the accuracy and recall both dropped, which might be a sign that there is too much augmentation going on and we may need to dial it back.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b1494d40b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cb1494d40b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CN">
                <a:solidFill>
                  <a:schemeClr val="dk1"/>
                </a:solidFill>
              </a:rPr>
              <a:t>For our current limitations, as shown by the results so far of our preliminary tests, our model is </a:t>
            </a:r>
            <a:r>
              <a:rPr lang="zh-CN">
                <a:solidFill>
                  <a:schemeClr val="dk1"/>
                </a:solidFill>
              </a:rPr>
              <a:t>displaying</a:t>
            </a:r>
            <a:r>
              <a:rPr lang="zh-CN">
                <a:solidFill>
                  <a:schemeClr val="dk1"/>
                </a:solidFill>
              </a:rPr>
              <a:t> very fast overfitting, which is happening in about 5 epochs regardless of the specific augmentation type. Training accuracy for the single-mode augmentation is </a:t>
            </a:r>
            <a:r>
              <a:rPr lang="zh-CN">
                <a:solidFill>
                  <a:schemeClr val="dk1"/>
                </a:solidFill>
              </a:rPr>
              <a:t>pretty</a:t>
            </a:r>
            <a:r>
              <a:rPr lang="zh-CN">
                <a:solidFill>
                  <a:schemeClr val="dk1"/>
                </a:solidFill>
              </a:rPr>
              <a:t> high, in the 90s, but validation is </a:t>
            </a:r>
            <a:r>
              <a:rPr lang="zh-CN">
                <a:solidFill>
                  <a:schemeClr val="dk1"/>
                </a:solidFill>
              </a:rPr>
              <a:t>consistently</a:t>
            </a:r>
            <a:r>
              <a:rPr lang="zh-CN">
                <a:solidFill>
                  <a:schemeClr val="dk1"/>
                </a:solidFill>
              </a:rPr>
              <a:t> platueaing in the 80s. Some possible reasons for this could be noise at the patch level, since we extracted 224x224 size patches from the WSIs, and background cells could </a:t>
            </a:r>
            <a:r>
              <a:rPr lang="zh-CN">
                <a:solidFill>
                  <a:schemeClr val="dk1"/>
                </a:solidFill>
              </a:rPr>
              <a:t>contribute</a:t>
            </a:r>
            <a:r>
              <a:rPr lang="zh-CN">
                <a:solidFill>
                  <a:schemeClr val="dk1"/>
                </a:solidFill>
              </a:rPr>
              <a:t> to noise.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With our dataset we are going from 400 WSIs in </a:t>
            </a:r>
            <a:r>
              <a:rPr lang="zh-CN">
                <a:solidFill>
                  <a:schemeClr val="dk1"/>
                </a:solidFill>
              </a:rPr>
              <a:t>training</a:t>
            </a:r>
            <a:r>
              <a:rPr lang="zh-CN">
                <a:solidFill>
                  <a:schemeClr val="dk1"/>
                </a:solidFill>
              </a:rPr>
              <a:t> to ~21k patches. Another possibility is that we might be reaching a model limit with our augmentation.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zh-CN">
                <a:solidFill>
                  <a:schemeClr val="dk1"/>
                </a:solidFill>
              </a:rPr>
              <a:t>Some potential solutions we are </a:t>
            </a:r>
            <a:r>
              <a:rPr lang="zh-CN">
                <a:solidFill>
                  <a:schemeClr val="dk1"/>
                </a:solidFill>
              </a:rPr>
              <a:t>planning</a:t>
            </a:r>
            <a:r>
              <a:rPr lang="zh-CN">
                <a:solidFill>
                  <a:schemeClr val="dk1"/>
                </a:solidFill>
              </a:rPr>
              <a:t> to try </a:t>
            </a:r>
            <a:r>
              <a:rPr lang="zh-CN">
                <a:solidFill>
                  <a:schemeClr val="dk1"/>
                </a:solidFill>
              </a:rPr>
              <a:t>moving</a:t>
            </a:r>
            <a:r>
              <a:rPr lang="zh-CN">
                <a:solidFill>
                  <a:schemeClr val="dk1"/>
                </a:solidFill>
              </a:rPr>
              <a:t> forward include reducing the batch size and learning rate, tuning the augmentation parameters to see if having a different setting could improve the performance, and testing more types of augmentation. In addition, we are thinking of extracting biological features such as KI67 from our WSIs for </a:t>
            </a:r>
            <a:r>
              <a:rPr lang="zh-CN">
                <a:solidFill>
                  <a:schemeClr val="dk1"/>
                </a:solidFill>
              </a:rPr>
              <a:t>training</a:t>
            </a:r>
            <a:r>
              <a:rPr lang="zh-CN">
                <a:solidFill>
                  <a:schemeClr val="dk1"/>
                </a:solidFill>
              </a:rPr>
              <a:t>.</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7c678eab2_2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3c7c678eab2_2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zh-CN">
                <a:solidFill>
                  <a:schemeClr val="dk1"/>
                </a:solidFill>
              </a:rPr>
              <a:t>For our next steps we plan to continue our training with the Resnet50 classifier, compare accuracy and F1 score to the ranked WSI images Train on only Hematoxylin part of the WSI, and try a different H&amp;E to spatial transcriptomics package</a:t>
            </a:r>
            <a:endParaRPr>
              <a:solidFill>
                <a:schemeClr val="dk1"/>
              </a:solidFill>
            </a:endParaRPr>
          </a:p>
          <a:p>
            <a:pPr indent="0" lvl="0" marL="0" rtl="0" algn="l">
              <a:lnSpc>
                <a:spcPct val="115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c7c678eab2_2_1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3c7c678eab2_2_1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zh-CN"/>
              <a:t>That’s all. Thank you.</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b="1" lang="zh-CN"/>
              <a:t>To Remove Technical Bias:</a:t>
            </a:r>
            <a:r>
              <a:rPr lang="zh-CN"/>
              <a:t> Histopathology images vary wildly in color and contrast due to different scanners and staining protocols. We need normalization to force the model to focus on </a:t>
            </a:r>
            <a:r>
              <a:rPr b="1" lang="zh-CN"/>
              <a:t>biological structures</a:t>
            </a:r>
            <a:r>
              <a:rPr lang="zh-CN"/>
              <a:t> (like cell morphology) rather than </a:t>
            </a:r>
            <a:r>
              <a:rPr b="1" lang="zh-CN"/>
              <a:t>superficial color styles</a:t>
            </a:r>
            <a:r>
              <a:rPr lang="zh-CN"/>
              <a:t>.</a:t>
            </a:r>
            <a:endParaRPr/>
          </a:p>
          <a:p>
            <a:pPr indent="-298450" lvl="0" marL="457200" rtl="0" algn="l">
              <a:lnSpc>
                <a:spcPct val="100000"/>
              </a:lnSpc>
              <a:spcBef>
                <a:spcPts val="0"/>
              </a:spcBef>
              <a:spcAft>
                <a:spcPts val="0"/>
              </a:spcAft>
              <a:buSzPts val="1100"/>
              <a:buChar char="●"/>
            </a:pPr>
            <a:r>
              <a:rPr b="1" lang="zh-CN"/>
              <a:t>As a Control Experiment:</a:t>
            </a:r>
            <a:r>
              <a:rPr lang="zh-CN"/>
              <a:t> We use normalization to pinpoint the </a:t>
            </a:r>
            <a:r>
              <a:rPr b="1" lang="zh-CN"/>
              <a:t>source of domain shift</a:t>
            </a:r>
            <a:r>
              <a:rPr lang="zh-CN"/>
              <a:t>. By comparing distances </a:t>
            </a:r>
            <a:r>
              <a:rPr i="1" lang="zh-CN"/>
              <a:t>before</a:t>
            </a:r>
            <a:r>
              <a:rPr lang="zh-CN"/>
              <a:t> and </a:t>
            </a:r>
            <a:r>
              <a:rPr i="1" lang="zh-CN"/>
              <a:t>after</a:t>
            </a:r>
            <a:r>
              <a:rPr lang="zh-CN"/>
              <a:t> normalization, we found that 'Scanner Shift' dropped significantly (meaning it was mostly color), while 'Lab Shift' remained high. This proves that Lab Shift is structural, not just color-based."</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zh-CN"/>
              <a:t>We chose these three to capture the </a:t>
            </a:r>
            <a:r>
              <a:rPr b="1" lang="zh-CN"/>
              <a:t>full spectrum</a:t>
            </a:r>
            <a:r>
              <a:rPr lang="zh-CN"/>
              <a:t> of domain shift, as each metric measures a different statistical property: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8" name="Shape 58"/>
        <p:cNvGrpSpPr/>
        <p:nvPr/>
      </p:nvGrpSpPr>
      <p:grpSpPr>
        <a:xfrm>
          <a:off x="0" y="0"/>
          <a:ext cx="0" cy="0"/>
          <a:chOff x="0" y="0"/>
          <a:chExt cx="0" cy="0"/>
        </a:xfrm>
      </p:grpSpPr>
      <p:sp>
        <p:nvSpPr>
          <p:cNvPr id="59" name="Google Shape;59;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0" name="Google Shape;60;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1" name="Google Shape;61;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2" name="Shape 62"/>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3" name="Shape 63"/>
        <p:cNvGrpSpPr/>
        <p:nvPr/>
      </p:nvGrpSpPr>
      <p:grpSpPr>
        <a:xfrm>
          <a:off x="0" y="0"/>
          <a:ext cx="0" cy="0"/>
          <a:chOff x="0" y="0"/>
          <a:chExt cx="0" cy="0"/>
        </a:xfrm>
      </p:grpSpPr>
      <p:sp>
        <p:nvSpPr>
          <p:cNvPr id="64" name="Google Shape;64;p1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5" name="Google Shape;65;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8" name="Google Shape;68;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69" name="Google Shape;69;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3" name="Google Shape;73;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4" name="Shape 74"/>
        <p:cNvGrpSpPr/>
        <p:nvPr/>
      </p:nvGrpSpPr>
      <p:grpSpPr>
        <a:xfrm>
          <a:off x="0" y="0"/>
          <a:ext cx="0" cy="0"/>
          <a:chOff x="0" y="0"/>
          <a:chExt cx="0" cy="0"/>
        </a:xfrm>
      </p:grpSpPr>
      <p:sp>
        <p:nvSpPr>
          <p:cNvPr id="75" name="Google Shape;75;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6" name="Google Shape;76;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8" name="Shape 78"/>
        <p:cNvGrpSpPr/>
        <p:nvPr/>
      </p:nvGrpSpPr>
      <p:grpSpPr>
        <a:xfrm>
          <a:off x="0" y="0"/>
          <a:ext cx="0" cy="0"/>
          <a:chOff x="0" y="0"/>
          <a:chExt cx="0" cy="0"/>
        </a:xfrm>
      </p:grpSpPr>
      <p:sp>
        <p:nvSpPr>
          <p:cNvPr id="79" name="Google Shape;79;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0" name="Google Shape;80;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1" name="Shape 81"/>
        <p:cNvGrpSpPr/>
        <p:nvPr/>
      </p:nvGrpSpPr>
      <p:grpSpPr>
        <a:xfrm>
          <a:off x="0" y="0"/>
          <a:ext cx="0" cy="0"/>
          <a:chOff x="0" y="0"/>
          <a:chExt cx="0" cy="0"/>
        </a:xfrm>
      </p:grpSpPr>
      <p:sp>
        <p:nvSpPr>
          <p:cNvPr id="82" name="Google Shape;82;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4" name="Google Shape;84;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5" name="Google Shape;85;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6" name="Google Shape;86;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7" name="Shape 87"/>
        <p:cNvGrpSpPr/>
        <p:nvPr/>
      </p:nvGrpSpPr>
      <p:grpSpPr>
        <a:xfrm>
          <a:off x="0" y="0"/>
          <a:ext cx="0" cy="0"/>
          <a:chOff x="0" y="0"/>
          <a:chExt cx="0" cy="0"/>
        </a:xfrm>
      </p:grpSpPr>
      <p:sp>
        <p:nvSpPr>
          <p:cNvPr id="88" name="Google Shape;88;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89" name="Google Shape;89;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0" name="Shape 90"/>
        <p:cNvGrpSpPr/>
        <p:nvPr/>
      </p:nvGrpSpPr>
      <p:grpSpPr>
        <a:xfrm>
          <a:off x="0" y="0"/>
          <a:ext cx="0" cy="0"/>
          <a:chOff x="0" y="0"/>
          <a:chExt cx="0" cy="0"/>
        </a:xfrm>
      </p:grpSpPr>
      <p:sp>
        <p:nvSpPr>
          <p:cNvPr id="91" name="Google Shape;91;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2" name="Google Shape;92;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3" name="Google Shape;9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4" name="Shape 94"/>
        <p:cNvGrpSpPr/>
        <p:nvPr/>
      </p:nvGrpSpPr>
      <p:grpSpPr>
        <a:xfrm>
          <a:off x="0" y="0"/>
          <a:ext cx="0" cy="0"/>
          <a:chOff x="0" y="0"/>
          <a:chExt cx="0" cy="0"/>
        </a:xfrm>
      </p:grpSpPr>
      <p:sp>
        <p:nvSpPr>
          <p:cNvPr id="95" name="Google Shape;9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4.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11.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15.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7.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6"/>
          <p:cNvSpPr txBox="1"/>
          <p:nvPr/>
        </p:nvSpPr>
        <p:spPr>
          <a:xfrm>
            <a:off x="777438" y="3348463"/>
            <a:ext cx="7589100" cy="531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3000"/>
              <a:buFont typeface="Arial"/>
              <a:buNone/>
            </a:pPr>
            <a:r>
              <a:rPr lang="zh-CN" sz="3000">
                <a:solidFill>
                  <a:schemeClr val="dk1"/>
                </a:solidFill>
                <a:latin typeface="Rosarivo"/>
                <a:ea typeface="Rosarivo"/>
                <a:cs typeface="Rosarivo"/>
                <a:sym typeface="Rosarivo"/>
              </a:rPr>
              <a:t>Data Augmentation</a:t>
            </a:r>
            <a:endParaRPr b="0" i="0" sz="3000" u="none" cap="none" strike="noStrike">
              <a:solidFill>
                <a:schemeClr val="dk1"/>
              </a:solidFill>
              <a:latin typeface="Rosarivo"/>
              <a:ea typeface="Rosarivo"/>
              <a:cs typeface="Rosarivo"/>
              <a:sym typeface="Rosarivo"/>
            </a:endParaRPr>
          </a:p>
        </p:txBody>
      </p:sp>
      <p:sp>
        <p:nvSpPr>
          <p:cNvPr id="101" name="Google Shape;101;p26"/>
          <p:cNvSpPr txBox="1"/>
          <p:nvPr/>
        </p:nvSpPr>
        <p:spPr>
          <a:xfrm>
            <a:off x="1548310" y="4196120"/>
            <a:ext cx="6047400" cy="400200"/>
          </a:xfrm>
          <a:prstGeom prst="rect">
            <a:avLst/>
          </a:prstGeom>
          <a:noFill/>
          <a:ln>
            <a:noFill/>
          </a:ln>
        </p:spPr>
        <p:txBody>
          <a:bodyPr anchorCtr="0" anchor="t" bIns="68575" lIns="68575" spcFirstLastPara="1" rIns="68575" wrap="square" tIns="68575">
            <a:noAutofit/>
          </a:bodyPr>
          <a:lstStyle/>
          <a:p>
            <a:pPr indent="0" lvl="0" marL="0" marR="0" rtl="0" algn="ctr">
              <a:lnSpc>
                <a:spcPct val="100000"/>
              </a:lnSpc>
              <a:spcBef>
                <a:spcPts val="0"/>
              </a:spcBef>
              <a:spcAft>
                <a:spcPts val="0"/>
              </a:spcAft>
              <a:buClr>
                <a:schemeClr val="dk1"/>
              </a:buClr>
              <a:buSzPts val="1400"/>
              <a:buFont typeface="Rosarivo"/>
              <a:buNone/>
            </a:pPr>
            <a:r>
              <a:rPr lang="zh-CN">
                <a:solidFill>
                  <a:schemeClr val="dk1"/>
                </a:solidFill>
                <a:highlight>
                  <a:schemeClr val="lt1"/>
                </a:highlight>
                <a:latin typeface="Rosarivo"/>
                <a:ea typeface="Rosarivo"/>
                <a:cs typeface="Rosarivo"/>
                <a:sym typeface="Rosarivo"/>
              </a:rPr>
              <a:t>Naina Misra | </a:t>
            </a:r>
            <a:r>
              <a:rPr b="0" i="0" lang="zh-CN" sz="1400" u="none" cap="none" strike="noStrike">
                <a:solidFill>
                  <a:schemeClr val="dk1"/>
                </a:solidFill>
                <a:highlight>
                  <a:schemeClr val="lt1"/>
                </a:highlight>
                <a:latin typeface="Rosarivo"/>
                <a:ea typeface="Rosarivo"/>
                <a:cs typeface="Rosarivo"/>
                <a:sym typeface="Rosarivo"/>
              </a:rPr>
              <a:t>Yang Cao | Lillian Lam | 02/</a:t>
            </a:r>
            <a:r>
              <a:rPr lang="zh-CN">
                <a:solidFill>
                  <a:schemeClr val="dk1"/>
                </a:solidFill>
                <a:highlight>
                  <a:schemeClr val="lt1"/>
                </a:highlight>
                <a:latin typeface="Rosarivo"/>
                <a:ea typeface="Rosarivo"/>
                <a:cs typeface="Rosarivo"/>
                <a:sym typeface="Rosarivo"/>
              </a:rPr>
              <a:t>26</a:t>
            </a:r>
            <a:r>
              <a:rPr b="0" i="0" lang="zh-CN" sz="1400" u="none" cap="none" strike="noStrike">
                <a:solidFill>
                  <a:schemeClr val="dk1"/>
                </a:solidFill>
                <a:highlight>
                  <a:schemeClr val="lt1"/>
                </a:highlight>
                <a:latin typeface="Rosarivo"/>
                <a:ea typeface="Rosarivo"/>
                <a:cs typeface="Rosarivo"/>
                <a:sym typeface="Rosarivo"/>
              </a:rPr>
              <a:t>/2025</a:t>
            </a:r>
            <a:endParaRPr b="0" i="0" sz="1400" u="none" cap="none" strike="noStrike">
              <a:solidFill>
                <a:schemeClr val="dk1"/>
              </a:solidFill>
              <a:highlight>
                <a:schemeClr val="lt1"/>
              </a:highlight>
              <a:latin typeface="Rosarivo"/>
              <a:ea typeface="Rosarivo"/>
              <a:cs typeface="Rosarivo"/>
              <a:sym typeface="Rosarivo"/>
            </a:endParaRPr>
          </a:p>
        </p:txBody>
      </p:sp>
      <p:pic>
        <p:nvPicPr>
          <p:cNvPr id="102" name="Google Shape;102;p26"/>
          <p:cNvPicPr preferRelativeResize="0"/>
          <p:nvPr/>
        </p:nvPicPr>
        <p:blipFill rotWithShape="1">
          <a:blip r:embed="rId3">
            <a:alphaModFix/>
          </a:blip>
          <a:srcRect b="0" l="0" r="0" t="0"/>
          <a:stretch/>
        </p:blipFill>
        <p:spPr>
          <a:xfrm>
            <a:off x="0" y="809625"/>
            <a:ext cx="9144002" cy="222218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6" name="Shape 106"/>
        <p:cNvGrpSpPr/>
        <p:nvPr/>
      </p:nvGrpSpPr>
      <p:grpSpPr>
        <a:xfrm>
          <a:off x="0" y="0"/>
          <a:ext cx="0" cy="0"/>
          <a:chOff x="0" y="0"/>
          <a:chExt cx="0" cy="0"/>
        </a:xfrm>
      </p:grpSpPr>
      <p:sp>
        <p:nvSpPr>
          <p:cNvPr id="107" name="Google Shape;107;p27"/>
          <p:cNvSpPr txBox="1"/>
          <p:nvPr>
            <p:ph type="title"/>
          </p:nvPr>
        </p:nvSpPr>
        <p:spPr>
          <a:xfrm>
            <a:off x="152050" y="1333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SzPct val="94000"/>
              <a:buFont typeface="Candara"/>
              <a:buNone/>
            </a:pPr>
            <a:r>
              <a:rPr lang="zh-CN" sz="3300">
                <a:solidFill>
                  <a:srgbClr val="000000"/>
                </a:solidFill>
                <a:latin typeface="Candara"/>
                <a:ea typeface="Candara"/>
                <a:cs typeface="Candara"/>
                <a:sym typeface="Candara"/>
              </a:rPr>
              <a:t>Recap</a:t>
            </a:r>
            <a:endParaRPr sz="3300">
              <a:solidFill>
                <a:srgbClr val="000000"/>
              </a:solidFill>
              <a:latin typeface="Candara"/>
              <a:ea typeface="Candara"/>
              <a:cs typeface="Candara"/>
              <a:sym typeface="Candara"/>
            </a:endParaRPr>
          </a:p>
        </p:txBody>
      </p:sp>
      <p:pic>
        <p:nvPicPr>
          <p:cNvPr id="108" name="Google Shape;108;p27"/>
          <p:cNvPicPr preferRelativeResize="0"/>
          <p:nvPr/>
        </p:nvPicPr>
        <p:blipFill rotWithShape="1">
          <a:blip r:embed="rId4">
            <a:alphaModFix/>
          </a:blip>
          <a:srcRect b="4151" l="496" r="35657" t="3570"/>
          <a:stretch/>
        </p:blipFill>
        <p:spPr>
          <a:xfrm>
            <a:off x="3326867" y="1474750"/>
            <a:ext cx="3121163" cy="1110725"/>
          </a:xfrm>
          <a:prstGeom prst="rect">
            <a:avLst/>
          </a:prstGeom>
          <a:noFill/>
          <a:ln>
            <a:noFill/>
          </a:ln>
        </p:spPr>
      </p:pic>
      <p:pic>
        <p:nvPicPr>
          <p:cNvPr id="109" name="Google Shape;109;p27"/>
          <p:cNvPicPr preferRelativeResize="0"/>
          <p:nvPr/>
        </p:nvPicPr>
        <p:blipFill rotWithShape="1">
          <a:blip r:embed="rId5">
            <a:alphaModFix/>
          </a:blip>
          <a:srcRect b="17313" l="16428" r="16708" t="15685"/>
          <a:stretch/>
        </p:blipFill>
        <p:spPr>
          <a:xfrm>
            <a:off x="1735438" y="1518258"/>
            <a:ext cx="941342" cy="955762"/>
          </a:xfrm>
          <a:prstGeom prst="rect">
            <a:avLst/>
          </a:prstGeom>
          <a:noFill/>
          <a:ln>
            <a:noFill/>
          </a:ln>
        </p:spPr>
      </p:pic>
      <p:sp>
        <p:nvSpPr>
          <p:cNvPr id="110" name="Google Shape;110;p27"/>
          <p:cNvSpPr/>
          <p:nvPr/>
        </p:nvSpPr>
        <p:spPr>
          <a:xfrm>
            <a:off x="2774582" y="1933869"/>
            <a:ext cx="454200" cy="192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69025" lIns="69025" spcFirstLastPara="1" rIns="69025" wrap="square" tIns="69025">
            <a:noAutofit/>
          </a:bodyPr>
          <a:lstStyle/>
          <a:p>
            <a:pPr indent="0" lvl="0" marL="0" marR="0" rtl="0" algn="ctr">
              <a:lnSpc>
                <a:spcPct val="100000"/>
              </a:lnSpc>
              <a:spcBef>
                <a:spcPts val="0"/>
              </a:spcBef>
              <a:spcAft>
                <a:spcPts val="0"/>
              </a:spcAft>
              <a:buClr>
                <a:srgbClr val="000000"/>
              </a:buClr>
              <a:buSzPts val="1055"/>
              <a:buFont typeface="Arial"/>
              <a:buNone/>
            </a:pPr>
            <a:r>
              <a:t/>
            </a:r>
            <a:endParaRPr b="0" i="0" sz="1055" u="none" cap="none" strike="noStrike">
              <a:solidFill>
                <a:srgbClr val="000000"/>
              </a:solidFill>
              <a:latin typeface="Arial"/>
              <a:ea typeface="Arial"/>
              <a:cs typeface="Arial"/>
              <a:sym typeface="Arial"/>
            </a:endParaRPr>
          </a:p>
        </p:txBody>
      </p:sp>
      <p:sp>
        <p:nvSpPr>
          <p:cNvPr id="111" name="Google Shape;111;p27"/>
          <p:cNvSpPr/>
          <p:nvPr/>
        </p:nvSpPr>
        <p:spPr>
          <a:xfrm>
            <a:off x="7255874" y="1597017"/>
            <a:ext cx="152700" cy="7980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69025" lIns="69025" spcFirstLastPara="1" rIns="69025" wrap="square" tIns="69025">
            <a:noAutofit/>
          </a:bodyPr>
          <a:lstStyle/>
          <a:p>
            <a:pPr indent="0" lvl="0" marL="0" marR="0" rtl="0" algn="ctr">
              <a:lnSpc>
                <a:spcPct val="100000"/>
              </a:lnSpc>
              <a:spcBef>
                <a:spcPts val="0"/>
              </a:spcBef>
              <a:spcAft>
                <a:spcPts val="0"/>
              </a:spcAft>
              <a:buClr>
                <a:srgbClr val="000000"/>
              </a:buClr>
              <a:buSzPts val="1055"/>
              <a:buFont typeface="Arial"/>
              <a:buNone/>
            </a:pPr>
            <a:r>
              <a:t/>
            </a:r>
            <a:endParaRPr b="0" i="0" sz="1055" u="none" cap="none" strike="noStrike">
              <a:solidFill>
                <a:srgbClr val="000000"/>
              </a:solidFill>
              <a:latin typeface="Arial"/>
              <a:ea typeface="Arial"/>
              <a:cs typeface="Arial"/>
              <a:sym typeface="Arial"/>
            </a:endParaRPr>
          </a:p>
        </p:txBody>
      </p:sp>
      <p:sp>
        <p:nvSpPr>
          <p:cNvPr id="112" name="Google Shape;112;p27"/>
          <p:cNvSpPr/>
          <p:nvPr/>
        </p:nvSpPr>
        <p:spPr>
          <a:xfrm>
            <a:off x="6659053" y="1933869"/>
            <a:ext cx="454200" cy="192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69025" lIns="69025" spcFirstLastPara="1" rIns="69025" wrap="square" tIns="69025">
            <a:noAutofit/>
          </a:bodyPr>
          <a:lstStyle/>
          <a:p>
            <a:pPr indent="0" lvl="0" marL="0" marR="0" rtl="0" algn="ctr">
              <a:lnSpc>
                <a:spcPct val="100000"/>
              </a:lnSpc>
              <a:spcBef>
                <a:spcPts val="0"/>
              </a:spcBef>
              <a:spcAft>
                <a:spcPts val="0"/>
              </a:spcAft>
              <a:buClr>
                <a:srgbClr val="000000"/>
              </a:buClr>
              <a:buSzPts val="1055"/>
              <a:buFont typeface="Arial"/>
              <a:buNone/>
            </a:pPr>
            <a:r>
              <a:t/>
            </a:r>
            <a:endParaRPr b="0" i="0" sz="1055" u="none" cap="none" strike="noStrike">
              <a:solidFill>
                <a:srgbClr val="000000"/>
              </a:solidFill>
              <a:latin typeface="Arial"/>
              <a:ea typeface="Arial"/>
              <a:cs typeface="Arial"/>
              <a:sym typeface="Arial"/>
            </a:endParaRPr>
          </a:p>
        </p:txBody>
      </p:sp>
      <p:pic>
        <p:nvPicPr>
          <p:cNvPr id="113" name="Google Shape;113;p27"/>
          <p:cNvPicPr preferRelativeResize="0"/>
          <p:nvPr/>
        </p:nvPicPr>
        <p:blipFill rotWithShape="1">
          <a:blip r:embed="rId6">
            <a:alphaModFix/>
          </a:blip>
          <a:srcRect b="29891" l="0" r="37675" t="15898"/>
          <a:stretch/>
        </p:blipFill>
        <p:spPr>
          <a:xfrm>
            <a:off x="264200" y="3545340"/>
            <a:ext cx="2155294" cy="909973"/>
          </a:xfrm>
          <a:prstGeom prst="rect">
            <a:avLst/>
          </a:prstGeom>
          <a:noFill/>
          <a:ln>
            <a:noFill/>
          </a:ln>
        </p:spPr>
      </p:pic>
      <p:pic>
        <p:nvPicPr>
          <p:cNvPr id="114" name="Google Shape;114;p27"/>
          <p:cNvPicPr preferRelativeResize="0"/>
          <p:nvPr/>
        </p:nvPicPr>
        <p:blipFill rotWithShape="1">
          <a:blip r:embed="rId4">
            <a:alphaModFix/>
          </a:blip>
          <a:srcRect b="4151" l="496" r="35657" t="3570"/>
          <a:stretch/>
        </p:blipFill>
        <p:spPr>
          <a:xfrm>
            <a:off x="4609130" y="3471550"/>
            <a:ext cx="2971613" cy="1057500"/>
          </a:xfrm>
          <a:prstGeom prst="rect">
            <a:avLst/>
          </a:prstGeom>
          <a:noFill/>
          <a:ln>
            <a:noFill/>
          </a:ln>
        </p:spPr>
      </p:pic>
      <p:pic>
        <p:nvPicPr>
          <p:cNvPr id="115" name="Google Shape;115;p27"/>
          <p:cNvPicPr preferRelativeResize="0"/>
          <p:nvPr/>
        </p:nvPicPr>
        <p:blipFill rotWithShape="1">
          <a:blip r:embed="rId5">
            <a:alphaModFix/>
          </a:blip>
          <a:srcRect b="17313" l="16428" r="16708" t="15685"/>
          <a:stretch/>
        </p:blipFill>
        <p:spPr>
          <a:xfrm>
            <a:off x="3093957" y="3512973"/>
            <a:ext cx="896246" cy="909974"/>
          </a:xfrm>
          <a:prstGeom prst="rect">
            <a:avLst/>
          </a:prstGeom>
          <a:noFill/>
          <a:ln>
            <a:noFill/>
          </a:ln>
        </p:spPr>
      </p:pic>
      <p:sp>
        <p:nvSpPr>
          <p:cNvPr id="116" name="Google Shape;116;p27"/>
          <p:cNvSpPr/>
          <p:nvPr/>
        </p:nvSpPr>
        <p:spPr>
          <a:xfrm>
            <a:off x="4083309" y="3908668"/>
            <a:ext cx="432600" cy="18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65700" lIns="65700" spcFirstLastPara="1" rIns="65700" wrap="square" tIns="65700">
            <a:noAutofit/>
          </a:bodyPr>
          <a:lstStyle/>
          <a:p>
            <a:pPr indent="0" lvl="0" marL="0" marR="0" rtl="0" algn="ctr">
              <a:lnSpc>
                <a:spcPct val="100000"/>
              </a:lnSpc>
              <a:spcBef>
                <a:spcPts val="0"/>
              </a:spcBef>
              <a:spcAft>
                <a:spcPts val="0"/>
              </a:spcAft>
              <a:buClr>
                <a:srgbClr val="000000"/>
              </a:buClr>
              <a:buSzPts val="1005"/>
              <a:buFont typeface="Arial"/>
              <a:buNone/>
            </a:pPr>
            <a:r>
              <a:t/>
            </a:r>
            <a:endParaRPr b="0" i="0" sz="1005" u="none" cap="none" strike="noStrike">
              <a:solidFill>
                <a:srgbClr val="000000"/>
              </a:solidFill>
              <a:latin typeface="Arial"/>
              <a:ea typeface="Arial"/>
              <a:cs typeface="Arial"/>
              <a:sym typeface="Arial"/>
            </a:endParaRPr>
          </a:p>
        </p:txBody>
      </p:sp>
      <p:sp>
        <p:nvSpPr>
          <p:cNvPr id="117" name="Google Shape;117;p27"/>
          <p:cNvSpPr/>
          <p:nvPr/>
        </p:nvSpPr>
        <p:spPr>
          <a:xfrm>
            <a:off x="8349872" y="3587958"/>
            <a:ext cx="145500" cy="759900"/>
          </a:xfrm>
          <a:prstGeom prst="rect">
            <a:avLst/>
          </a:prstGeom>
          <a:solidFill>
            <a:srgbClr val="6D9EEB"/>
          </a:solidFill>
          <a:ln cap="flat" cmpd="sng" w="9525">
            <a:solidFill>
              <a:schemeClr val="dk2"/>
            </a:solidFill>
            <a:prstDash val="solid"/>
            <a:round/>
            <a:headEnd len="sm" w="sm" type="none"/>
            <a:tailEnd len="sm" w="sm" type="none"/>
          </a:ln>
        </p:spPr>
        <p:txBody>
          <a:bodyPr anchorCtr="0" anchor="ctr" bIns="65700" lIns="65700" spcFirstLastPara="1" rIns="65700" wrap="square" tIns="65700">
            <a:noAutofit/>
          </a:bodyPr>
          <a:lstStyle/>
          <a:p>
            <a:pPr indent="0" lvl="0" marL="0" marR="0" rtl="0" algn="ctr">
              <a:lnSpc>
                <a:spcPct val="100000"/>
              </a:lnSpc>
              <a:spcBef>
                <a:spcPts val="0"/>
              </a:spcBef>
              <a:spcAft>
                <a:spcPts val="0"/>
              </a:spcAft>
              <a:buClr>
                <a:srgbClr val="000000"/>
              </a:buClr>
              <a:buSzPts val="1005"/>
              <a:buFont typeface="Arial"/>
              <a:buNone/>
            </a:pPr>
            <a:r>
              <a:t/>
            </a:r>
            <a:endParaRPr b="0" i="0" sz="1005" u="none" cap="none" strike="noStrike">
              <a:solidFill>
                <a:srgbClr val="000000"/>
              </a:solidFill>
              <a:latin typeface="Arial"/>
              <a:ea typeface="Arial"/>
              <a:cs typeface="Arial"/>
              <a:sym typeface="Arial"/>
            </a:endParaRPr>
          </a:p>
        </p:txBody>
      </p:sp>
      <p:sp>
        <p:nvSpPr>
          <p:cNvPr id="118" name="Google Shape;118;p27"/>
          <p:cNvSpPr/>
          <p:nvPr/>
        </p:nvSpPr>
        <p:spPr>
          <a:xfrm>
            <a:off x="7781648" y="3908668"/>
            <a:ext cx="432600" cy="18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65700" lIns="65700" spcFirstLastPara="1" rIns="65700" wrap="square" tIns="65700">
            <a:noAutofit/>
          </a:bodyPr>
          <a:lstStyle/>
          <a:p>
            <a:pPr indent="0" lvl="0" marL="0" marR="0" rtl="0" algn="ctr">
              <a:lnSpc>
                <a:spcPct val="100000"/>
              </a:lnSpc>
              <a:spcBef>
                <a:spcPts val="0"/>
              </a:spcBef>
              <a:spcAft>
                <a:spcPts val="0"/>
              </a:spcAft>
              <a:buClr>
                <a:srgbClr val="000000"/>
              </a:buClr>
              <a:buSzPts val="1005"/>
              <a:buFont typeface="Arial"/>
              <a:buNone/>
            </a:pPr>
            <a:r>
              <a:t/>
            </a:r>
            <a:endParaRPr b="0" i="0" sz="1005" u="none" cap="none" strike="noStrike">
              <a:solidFill>
                <a:srgbClr val="000000"/>
              </a:solidFill>
              <a:latin typeface="Arial"/>
              <a:ea typeface="Arial"/>
              <a:cs typeface="Arial"/>
              <a:sym typeface="Arial"/>
            </a:endParaRPr>
          </a:p>
        </p:txBody>
      </p:sp>
      <p:sp>
        <p:nvSpPr>
          <p:cNvPr id="119" name="Google Shape;119;p27"/>
          <p:cNvSpPr/>
          <p:nvPr/>
        </p:nvSpPr>
        <p:spPr>
          <a:xfrm>
            <a:off x="2568259" y="3908668"/>
            <a:ext cx="432600" cy="18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65700" lIns="65700" spcFirstLastPara="1" rIns="65700" wrap="square" tIns="65700">
            <a:noAutofit/>
          </a:bodyPr>
          <a:lstStyle/>
          <a:p>
            <a:pPr indent="0" lvl="0" marL="0" marR="0" rtl="0" algn="ctr">
              <a:lnSpc>
                <a:spcPct val="100000"/>
              </a:lnSpc>
              <a:spcBef>
                <a:spcPts val="0"/>
              </a:spcBef>
              <a:spcAft>
                <a:spcPts val="0"/>
              </a:spcAft>
              <a:buClr>
                <a:srgbClr val="000000"/>
              </a:buClr>
              <a:buSzPts val="1005"/>
              <a:buFont typeface="Arial"/>
              <a:buNone/>
            </a:pPr>
            <a:r>
              <a:t/>
            </a:r>
            <a:endParaRPr b="0" i="0" sz="1005" u="none" cap="none" strike="noStrike">
              <a:solidFill>
                <a:srgbClr val="000000"/>
              </a:solidFill>
              <a:latin typeface="Arial"/>
              <a:ea typeface="Arial"/>
              <a:cs typeface="Arial"/>
              <a:sym typeface="Arial"/>
            </a:endParaRPr>
          </a:p>
        </p:txBody>
      </p:sp>
      <p:sp>
        <p:nvSpPr>
          <p:cNvPr id="120" name="Google Shape;120;p27"/>
          <p:cNvSpPr txBox="1"/>
          <p:nvPr/>
        </p:nvSpPr>
        <p:spPr>
          <a:xfrm>
            <a:off x="152050" y="706000"/>
            <a:ext cx="4293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zh-CN" sz="1800" u="none" cap="none" strike="noStrike">
                <a:solidFill>
                  <a:schemeClr val="dk2"/>
                </a:solidFill>
                <a:latin typeface="Arial"/>
                <a:ea typeface="Arial"/>
                <a:cs typeface="Arial"/>
                <a:sym typeface="Arial"/>
              </a:rPr>
              <a:t>CTransPath Feature Extraction</a:t>
            </a:r>
            <a:endParaRPr b="0" i="0" sz="1800" u="none" cap="none" strike="noStrike">
              <a:solidFill>
                <a:schemeClr val="dk2"/>
              </a:solidFill>
              <a:latin typeface="Arial"/>
              <a:ea typeface="Arial"/>
              <a:cs typeface="Arial"/>
              <a:sym typeface="Arial"/>
            </a:endParaRPr>
          </a:p>
        </p:txBody>
      </p:sp>
      <p:sp>
        <p:nvSpPr>
          <p:cNvPr id="121" name="Google Shape;121;p27"/>
          <p:cNvSpPr txBox="1"/>
          <p:nvPr/>
        </p:nvSpPr>
        <p:spPr>
          <a:xfrm>
            <a:off x="152050" y="2967000"/>
            <a:ext cx="6144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zh-CN" sz="1800" u="none" cap="none" strike="noStrike">
                <a:solidFill>
                  <a:schemeClr val="dk2"/>
                </a:solidFill>
                <a:latin typeface="Arial"/>
                <a:ea typeface="Arial"/>
                <a:cs typeface="Arial"/>
                <a:sym typeface="Arial"/>
              </a:rPr>
              <a:t>Stain Normalized CTransPath Feature Extraction</a:t>
            </a:r>
            <a:endParaRPr b="0" i="0" sz="1800" u="none" cap="none" strike="noStrike">
              <a:solidFill>
                <a:schemeClr val="dk2"/>
              </a:solidFill>
              <a:latin typeface="Arial"/>
              <a:ea typeface="Arial"/>
              <a:cs typeface="Arial"/>
              <a:sym typeface="Arial"/>
            </a:endParaRPr>
          </a:p>
        </p:txBody>
      </p:sp>
      <p:sp>
        <p:nvSpPr>
          <p:cNvPr id="122" name="Google Shape;122;p27"/>
          <p:cNvSpPr txBox="1"/>
          <p:nvPr/>
        </p:nvSpPr>
        <p:spPr>
          <a:xfrm>
            <a:off x="1599150" y="2484000"/>
            <a:ext cx="1175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Patch Extraction</a:t>
            </a:r>
            <a:endParaRPr b="0" i="0" sz="1000" u="none" cap="none" strike="noStrike">
              <a:solidFill>
                <a:schemeClr val="dk2"/>
              </a:solidFill>
              <a:latin typeface="Arial"/>
              <a:ea typeface="Arial"/>
              <a:cs typeface="Arial"/>
              <a:sym typeface="Arial"/>
            </a:endParaRPr>
          </a:p>
        </p:txBody>
      </p:sp>
      <p:sp>
        <p:nvSpPr>
          <p:cNvPr id="123" name="Google Shape;123;p27"/>
          <p:cNvSpPr txBox="1"/>
          <p:nvPr/>
        </p:nvSpPr>
        <p:spPr>
          <a:xfrm>
            <a:off x="3958325" y="2585475"/>
            <a:ext cx="2489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CTransPath Feature Extraction</a:t>
            </a:r>
            <a:endParaRPr b="0" i="0" sz="1000" u="none" cap="none" strike="noStrike">
              <a:solidFill>
                <a:schemeClr val="dk2"/>
              </a:solidFill>
              <a:latin typeface="Arial"/>
              <a:ea typeface="Arial"/>
              <a:cs typeface="Arial"/>
              <a:sym typeface="Arial"/>
            </a:endParaRPr>
          </a:p>
        </p:txBody>
      </p:sp>
      <p:sp>
        <p:nvSpPr>
          <p:cNvPr id="124" name="Google Shape;124;p27"/>
          <p:cNvSpPr txBox="1"/>
          <p:nvPr/>
        </p:nvSpPr>
        <p:spPr>
          <a:xfrm>
            <a:off x="6659050" y="2530400"/>
            <a:ext cx="140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1x768 Feature Vector</a:t>
            </a:r>
            <a:endParaRPr b="0" i="0" sz="1000" u="none" cap="none" strike="noStrike">
              <a:solidFill>
                <a:schemeClr val="dk2"/>
              </a:solidFill>
              <a:latin typeface="Arial"/>
              <a:ea typeface="Arial"/>
              <a:cs typeface="Arial"/>
              <a:sym typeface="Arial"/>
            </a:endParaRPr>
          </a:p>
        </p:txBody>
      </p:sp>
      <p:sp>
        <p:nvSpPr>
          <p:cNvPr id="125" name="Google Shape;125;p27"/>
          <p:cNvSpPr txBox="1"/>
          <p:nvPr/>
        </p:nvSpPr>
        <p:spPr>
          <a:xfrm>
            <a:off x="7720925" y="4529050"/>
            <a:ext cx="1403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1x768 Feature Vector</a:t>
            </a:r>
            <a:endParaRPr b="0" i="0" sz="1000" u="none" cap="none" strike="noStrike">
              <a:solidFill>
                <a:schemeClr val="dk2"/>
              </a:solidFill>
              <a:latin typeface="Arial"/>
              <a:ea typeface="Arial"/>
              <a:cs typeface="Arial"/>
              <a:sym typeface="Arial"/>
            </a:endParaRPr>
          </a:p>
        </p:txBody>
      </p:sp>
      <p:sp>
        <p:nvSpPr>
          <p:cNvPr id="126" name="Google Shape;126;p27"/>
          <p:cNvSpPr txBox="1"/>
          <p:nvPr/>
        </p:nvSpPr>
        <p:spPr>
          <a:xfrm>
            <a:off x="5089335" y="4562175"/>
            <a:ext cx="2011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CTransPath Feature  Extraction</a:t>
            </a:r>
            <a:endParaRPr b="0" i="0" sz="1000" u="none" cap="none" strike="noStrike">
              <a:solidFill>
                <a:schemeClr val="dk2"/>
              </a:solidFill>
              <a:latin typeface="Arial"/>
              <a:ea typeface="Arial"/>
              <a:cs typeface="Arial"/>
              <a:sym typeface="Arial"/>
            </a:endParaRPr>
          </a:p>
        </p:txBody>
      </p:sp>
      <p:sp>
        <p:nvSpPr>
          <p:cNvPr id="127" name="Google Shape;127;p27"/>
          <p:cNvSpPr txBox="1"/>
          <p:nvPr/>
        </p:nvSpPr>
        <p:spPr>
          <a:xfrm>
            <a:off x="3000850" y="4455325"/>
            <a:ext cx="11754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Patch Extraction</a:t>
            </a:r>
            <a:endParaRPr b="0" i="0" sz="1000" u="none" cap="none" strike="noStrike">
              <a:solidFill>
                <a:schemeClr val="dk2"/>
              </a:solidFill>
              <a:latin typeface="Arial"/>
              <a:ea typeface="Arial"/>
              <a:cs typeface="Arial"/>
              <a:sym typeface="Arial"/>
            </a:endParaRPr>
          </a:p>
        </p:txBody>
      </p:sp>
      <p:sp>
        <p:nvSpPr>
          <p:cNvPr id="128" name="Google Shape;128;p27"/>
          <p:cNvSpPr txBox="1"/>
          <p:nvPr/>
        </p:nvSpPr>
        <p:spPr>
          <a:xfrm>
            <a:off x="412775" y="4455325"/>
            <a:ext cx="2155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zh-CN" sz="1000" u="none" cap="none" strike="noStrike">
                <a:solidFill>
                  <a:schemeClr val="dk2"/>
                </a:solidFill>
                <a:latin typeface="Arial"/>
                <a:ea typeface="Arial"/>
                <a:cs typeface="Arial"/>
                <a:sym typeface="Arial"/>
              </a:rPr>
              <a:t>Cycle GAN Stain Normalization</a:t>
            </a:r>
            <a:endParaRPr b="0" i="0" sz="1000" u="none" cap="none" strike="noStrike">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8"/>
          <p:cNvSpPr txBox="1"/>
          <p:nvPr/>
        </p:nvSpPr>
        <p:spPr>
          <a:xfrm>
            <a:off x="311700" y="445025"/>
            <a:ext cx="8520600" cy="5727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90000"/>
              </a:lnSpc>
              <a:spcBef>
                <a:spcPts val="0"/>
              </a:spcBef>
              <a:spcAft>
                <a:spcPts val="0"/>
              </a:spcAft>
              <a:buNone/>
            </a:pPr>
            <a:r>
              <a:rPr lang="zh-CN" sz="3300">
                <a:latin typeface="Candara"/>
                <a:ea typeface="Candara"/>
                <a:cs typeface="Candara"/>
                <a:sym typeface="Candara"/>
              </a:rPr>
              <a:t>Pipeline</a:t>
            </a:r>
            <a:endParaRPr sz="3300">
              <a:latin typeface="Candara"/>
              <a:ea typeface="Candara"/>
              <a:cs typeface="Candara"/>
              <a:sym typeface="Candara"/>
            </a:endParaRPr>
          </a:p>
        </p:txBody>
      </p:sp>
      <p:pic>
        <p:nvPicPr>
          <p:cNvPr id="134" name="Google Shape;134;p28" title="Flowchart.png"/>
          <p:cNvPicPr preferRelativeResize="0"/>
          <p:nvPr/>
        </p:nvPicPr>
        <p:blipFill>
          <a:blip r:embed="rId3">
            <a:alphaModFix/>
          </a:blip>
          <a:stretch>
            <a:fillRect/>
          </a:stretch>
        </p:blipFill>
        <p:spPr>
          <a:xfrm>
            <a:off x="264675" y="1287075"/>
            <a:ext cx="8614650" cy="3389275"/>
          </a:xfrm>
          <a:prstGeom prst="rect">
            <a:avLst/>
          </a:prstGeom>
          <a:noFill/>
          <a:ln>
            <a:noFill/>
          </a:ln>
        </p:spPr>
      </p:pic>
      <p:sp>
        <p:nvSpPr>
          <p:cNvPr id="135" name="Google Shape;135;p28"/>
          <p:cNvSpPr/>
          <p:nvPr/>
        </p:nvSpPr>
        <p:spPr>
          <a:xfrm>
            <a:off x="2357500" y="2571750"/>
            <a:ext cx="1176300" cy="6735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9"/>
          <p:cNvSpPr txBox="1"/>
          <p:nvPr>
            <p:ph type="title"/>
          </p:nvPr>
        </p:nvSpPr>
        <p:spPr>
          <a:xfrm>
            <a:off x="311700" y="1061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SzPct val="94000"/>
              <a:buFont typeface="Candara"/>
              <a:buNone/>
            </a:pPr>
            <a:r>
              <a:rPr lang="zh-CN" sz="3300">
                <a:solidFill>
                  <a:srgbClr val="000000"/>
                </a:solidFill>
                <a:latin typeface="Candara"/>
                <a:ea typeface="Candara"/>
                <a:cs typeface="Candara"/>
                <a:sym typeface="Candara"/>
              </a:rPr>
              <a:t>Data Augmentation</a:t>
            </a:r>
            <a:endParaRPr sz="3300">
              <a:solidFill>
                <a:srgbClr val="000000"/>
              </a:solidFill>
              <a:latin typeface="Candara"/>
              <a:ea typeface="Candara"/>
              <a:cs typeface="Candara"/>
              <a:sym typeface="Candara"/>
            </a:endParaRPr>
          </a:p>
        </p:txBody>
      </p:sp>
      <p:sp>
        <p:nvSpPr>
          <p:cNvPr id="141" name="Google Shape;141;p29"/>
          <p:cNvSpPr txBox="1"/>
          <p:nvPr/>
        </p:nvSpPr>
        <p:spPr>
          <a:xfrm>
            <a:off x="999600" y="3409900"/>
            <a:ext cx="7144800" cy="969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800"/>
              <a:buFont typeface="Arial"/>
              <a:buNone/>
            </a:pPr>
            <a:r>
              <a:rPr lang="zh-CN" sz="1700">
                <a:solidFill>
                  <a:schemeClr val="dk1"/>
                </a:solidFill>
              </a:rPr>
              <a:t>A technique to work with limited data </a:t>
            </a:r>
            <a:r>
              <a:rPr lang="zh-CN" sz="1700">
                <a:solidFill>
                  <a:schemeClr val="dk1"/>
                </a:solidFill>
              </a:rPr>
              <a:t>(a common problem in machine learning) </a:t>
            </a:r>
            <a:r>
              <a:rPr lang="zh-CN" sz="1700">
                <a:solidFill>
                  <a:schemeClr val="dk1"/>
                </a:solidFill>
              </a:rPr>
              <a:t>by expanding the dataset via image modifications. Through </a:t>
            </a:r>
            <a:r>
              <a:rPr lang="zh-CN" sz="1700">
                <a:solidFill>
                  <a:schemeClr val="dk1"/>
                </a:solidFill>
              </a:rPr>
              <a:t>introducing</a:t>
            </a:r>
            <a:r>
              <a:rPr lang="zh-CN" sz="1700">
                <a:solidFill>
                  <a:schemeClr val="dk1"/>
                </a:solidFill>
              </a:rPr>
              <a:t> greater image variety, model performance can be improved.</a:t>
            </a:r>
            <a:endParaRPr b="0" i="0" sz="1700" u="none" cap="none" strike="noStrike">
              <a:solidFill>
                <a:schemeClr val="dk1"/>
              </a:solidFill>
              <a:latin typeface="Arial"/>
              <a:ea typeface="Arial"/>
              <a:cs typeface="Arial"/>
              <a:sym typeface="Arial"/>
            </a:endParaRPr>
          </a:p>
        </p:txBody>
      </p:sp>
      <p:pic>
        <p:nvPicPr>
          <p:cNvPr id="142" name="Google Shape;142;p29"/>
          <p:cNvPicPr preferRelativeResize="0"/>
          <p:nvPr/>
        </p:nvPicPr>
        <p:blipFill>
          <a:blip r:embed="rId3">
            <a:alphaModFix/>
          </a:blip>
          <a:stretch>
            <a:fillRect/>
          </a:stretch>
        </p:blipFill>
        <p:spPr>
          <a:xfrm>
            <a:off x="1136525" y="1073086"/>
            <a:ext cx="6870949" cy="1942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Initial Model (No Augmentation)</a:t>
            </a:r>
            <a:endParaRPr/>
          </a:p>
        </p:txBody>
      </p:sp>
      <p:pic>
        <p:nvPicPr>
          <p:cNvPr id="148" name="Google Shape;148;p30"/>
          <p:cNvPicPr preferRelativeResize="0"/>
          <p:nvPr/>
        </p:nvPicPr>
        <p:blipFill>
          <a:blip r:embed="rId3">
            <a:alphaModFix/>
          </a:blip>
          <a:stretch>
            <a:fillRect/>
          </a:stretch>
        </p:blipFill>
        <p:spPr>
          <a:xfrm>
            <a:off x="255113" y="1833750"/>
            <a:ext cx="6050248" cy="1985249"/>
          </a:xfrm>
          <a:prstGeom prst="rect">
            <a:avLst/>
          </a:prstGeom>
          <a:noFill/>
          <a:ln>
            <a:noFill/>
          </a:ln>
        </p:spPr>
      </p:pic>
      <p:pic>
        <p:nvPicPr>
          <p:cNvPr id="149" name="Google Shape;149;p30"/>
          <p:cNvPicPr preferRelativeResize="0"/>
          <p:nvPr/>
        </p:nvPicPr>
        <p:blipFill>
          <a:blip r:embed="rId4">
            <a:alphaModFix/>
          </a:blip>
          <a:stretch>
            <a:fillRect/>
          </a:stretch>
        </p:blipFill>
        <p:spPr>
          <a:xfrm>
            <a:off x="6444363" y="2683013"/>
            <a:ext cx="2416475" cy="1795475"/>
          </a:xfrm>
          <a:prstGeom prst="rect">
            <a:avLst/>
          </a:prstGeom>
          <a:noFill/>
          <a:ln>
            <a:noFill/>
          </a:ln>
        </p:spPr>
      </p:pic>
      <p:graphicFrame>
        <p:nvGraphicFramePr>
          <p:cNvPr id="150" name="Google Shape;150;p30"/>
          <p:cNvGraphicFramePr/>
          <p:nvPr/>
        </p:nvGraphicFramePr>
        <p:xfrm>
          <a:off x="6472775" y="1017725"/>
          <a:ext cx="3000000" cy="3000000"/>
        </p:xfrm>
        <a:graphic>
          <a:graphicData uri="http://schemas.openxmlformats.org/drawingml/2006/table">
            <a:tbl>
              <a:tblPr>
                <a:noFill/>
                <a:tableStyleId>{8AF31590-B60A-4011-993D-F8EC251B621B}</a:tableStyleId>
              </a:tblPr>
              <a:tblGrid>
                <a:gridCol w="786550"/>
                <a:gridCol w="786550"/>
                <a:gridCol w="786550"/>
              </a:tblGrid>
              <a:tr h="468650">
                <a:tc>
                  <a:txBody>
                    <a:bodyPr/>
                    <a:lstStyle/>
                    <a:p>
                      <a:pPr indent="0" lvl="0" marL="0" rtl="0" algn="l">
                        <a:spcBef>
                          <a:spcPts val="0"/>
                        </a:spcBef>
                        <a:spcAft>
                          <a:spcPts val="0"/>
                        </a:spcAft>
                        <a:buNone/>
                      </a:pPr>
                      <a:r>
                        <a:rPr lang="zh-CN" sz="900"/>
                        <a:t>Confusion Matrix</a:t>
                      </a:r>
                      <a:endParaRPr sz="900"/>
                    </a:p>
                  </a:txBody>
                  <a:tcPr marT="91425" marB="91425" marR="91425" marL="91425"/>
                </a:tc>
                <a:tc>
                  <a:txBody>
                    <a:bodyPr/>
                    <a:lstStyle/>
                    <a:p>
                      <a:pPr indent="0" lvl="0" marL="0" rtl="0" algn="l">
                        <a:spcBef>
                          <a:spcPts val="0"/>
                        </a:spcBef>
                        <a:spcAft>
                          <a:spcPts val="0"/>
                        </a:spcAft>
                        <a:buNone/>
                      </a:pPr>
                      <a:r>
                        <a:rPr lang="zh-CN" sz="900"/>
                        <a:t>Predicted non-mitotic</a:t>
                      </a:r>
                      <a:endParaRPr sz="900"/>
                    </a:p>
                  </a:txBody>
                  <a:tcPr marT="91425" marB="91425" marR="91425" marL="91425"/>
                </a:tc>
                <a:tc>
                  <a:txBody>
                    <a:bodyPr/>
                    <a:lstStyle/>
                    <a:p>
                      <a:pPr indent="0" lvl="0" marL="0" rtl="0" algn="l">
                        <a:spcBef>
                          <a:spcPts val="0"/>
                        </a:spcBef>
                        <a:spcAft>
                          <a:spcPts val="0"/>
                        </a:spcAft>
                        <a:buNone/>
                      </a:pPr>
                      <a:r>
                        <a:rPr lang="zh-CN" sz="900"/>
                        <a:t>Predicted</a:t>
                      </a:r>
                      <a:endParaRPr sz="900"/>
                    </a:p>
                    <a:p>
                      <a:pPr indent="0" lvl="0" marL="0" rtl="0" algn="l">
                        <a:spcBef>
                          <a:spcPts val="0"/>
                        </a:spcBef>
                        <a:spcAft>
                          <a:spcPts val="0"/>
                        </a:spcAft>
                        <a:buNone/>
                      </a:pPr>
                      <a:r>
                        <a:rPr lang="zh-CN" sz="900"/>
                        <a:t>mitotic</a:t>
                      </a:r>
                      <a:endParaRPr sz="900"/>
                    </a:p>
                  </a:txBody>
                  <a:tcPr marT="91425" marB="91425" marR="91425" marL="91425"/>
                </a:tc>
              </a:tr>
              <a:tr h="399750">
                <a:tc>
                  <a:txBody>
                    <a:bodyPr/>
                    <a:lstStyle/>
                    <a:p>
                      <a:pPr indent="0" lvl="0" marL="0" rtl="0" algn="l">
                        <a:spcBef>
                          <a:spcPts val="0"/>
                        </a:spcBef>
                        <a:spcAft>
                          <a:spcPts val="0"/>
                        </a:spcAft>
                        <a:buNone/>
                      </a:pPr>
                      <a:r>
                        <a:rPr lang="zh-CN" sz="900"/>
                        <a:t>Actual non-mitotic</a:t>
                      </a:r>
                      <a:endParaRPr sz="900"/>
                    </a:p>
                  </a:txBody>
                  <a:tcPr marT="91425" marB="91425" marR="91425" marL="91425"/>
                </a:tc>
                <a:tc>
                  <a:txBody>
                    <a:bodyPr/>
                    <a:lstStyle/>
                    <a:p>
                      <a:pPr indent="0" lvl="0" marL="0" rtl="0" algn="l">
                        <a:spcBef>
                          <a:spcPts val="0"/>
                        </a:spcBef>
                        <a:spcAft>
                          <a:spcPts val="0"/>
                        </a:spcAft>
                        <a:buNone/>
                      </a:pPr>
                      <a:r>
                        <a:rPr lang="zh-CN" sz="900"/>
                        <a:t>TN</a:t>
                      </a:r>
                      <a:endParaRPr sz="900"/>
                    </a:p>
                  </a:txBody>
                  <a:tcPr marT="91425" marB="91425" marR="91425" marL="91425"/>
                </a:tc>
                <a:tc>
                  <a:txBody>
                    <a:bodyPr/>
                    <a:lstStyle/>
                    <a:p>
                      <a:pPr indent="0" lvl="0" marL="0" rtl="0" algn="l">
                        <a:spcBef>
                          <a:spcPts val="0"/>
                        </a:spcBef>
                        <a:spcAft>
                          <a:spcPts val="0"/>
                        </a:spcAft>
                        <a:buNone/>
                      </a:pPr>
                      <a:r>
                        <a:rPr lang="zh-CN" sz="900"/>
                        <a:t>FP</a:t>
                      </a:r>
                      <a:endParaRPr sz="900"/>
                    </a:p>
                  </a:txBody>
                  <a:tcPr marT="91425" marB="91425" marR="91425" marL="91425"/>
                </a:tc>
              </a:tr>
              <a:tr h="379150">
                <a:tc>
                  <a:txBody>
                    <a:bodyPr/>
                    <a:lstStyle/>
                    <a:p>
                      <a:pPr indent="0" lvl="0" marL="0" rtl="0" algn="l">
                        <a:spcBef>
                          <a:spcPts val="0"/>
                        </a:spcBef>
                        <a:spcAft>
                          <a:spcPts val="0"/>
                        </a:spcAft>
                        <a:buNone/>
                      </a:pPr>
                      <a:r>
                        <a:rPr lang="zh-CN" sz="900"/>
                        <a:t>Actual mitotic</a:t>
                      </a:r>
                      <a:endParaRPr sz="900"/>
                    </a:p>
                  </a:txBody>
                  <a:tcPr marT="91425" marB="91425" marR="91425" marL="91425"/>
                </a:tc>
                <a:tc>
                  <a:txBody>
                    <a:bodyPr/>
                    <a:lstStyle/>
                    <a:p>
                      <a:pPr indent="0" lvl="0" marL="0" rtl="0" algn="l">
                        <a:spcBef>
                          <a:spcPts val="0"/>
                        </a:spcBef>
                        <a:spcAft>
                          <a:spcPts val="0"/>
                        </a:spcAft>
                        <a:buNone/>
                      </a:pPr>
                      <a:r>
                        <a:rPr lang="zh-CN" sz="900"/>
                        <a:t>FN</a:t>
                      </a:r>
                      <a:endParaRPr sz="900"/>
                    </a:p>
                  </a:txBody>
                  <a:tcPr marT="91425" marB="91425" marR="91425" marL="91425"/>
                </a:tc>
                <a:tc>
                  <a:txBody>
                    <a:bodyPr/>
                    <a:lstStyle/>
                    <a:p>
                      <a:pPr indent="0" lvl="0" marL="0" rtl="0" algn="l">
                        <a:spcBef>
                          <a:spcPts val="0"/>
                        </a:spcBef>
                        <a:spcAft>
                          <a:spcPts val="0"/>
                        </a:spcAft>
                        <a:buNone/>
                      </a:pPr>
                      <a:r>
                        <a:rPr lang="zh-CN" sz="900"/>
                        <a:t>TP</a:t>
                      </a:r>
                      <a:endParaRPr sz="900"/>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Color Jitter</a:t>
            </a:r>
            <a:endParaRPr/>
          </a:p>
        </p:txBody>
      </p:sp>
      <p:sp>
        <p:nvSpPr>
          <p:cNvPr id="156" name="Google Shape;156;p31"/>
          <p:cNvSpPr txBox="1"/>
          <p:nvPr>
            <p:ph idx="1" type="body"/>
          </p:nvPr>
        </p:nvSpPr>
        <p:spPr>
          <a:xfrm>
            <a:off x="256125" y="10177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100% images augmented</a:t>
            </a:r>
            <a:endParaRPr/>
          </a:p>
        </p:txBody>
      </p:sp>
      <p:pic>
        <p:nvPicPr>
          <p:cNvPr id="157" name="Google Shape;157;p31"/>
          <p:cNvPicPr preferRelativeResize="0"/>
          <p:nvPr/>
        </p:nvPicPr>
        <p:blipFill rotWithShape="1">
          <a:blip r:embed="rId3">
            <a:alphaModFix/>
          </a:blip>
          <a:srcRect b="0" l="0" r="0" t="33418"/>
          <a:stretch/>
        </p:blipFill>
        <p:spPr>
          <a:xfrm>
            <a:off x="6703625" y="1"/>
            <a:ext cx="2440376" cy="5143501"/>
          </a:xfrm>
          <a:prstGeom prst="rect">
            <a:avLst/>
          </a:prstGeom>
          <a:noFill/>
          <a:ln>
            <a:noFill/>
          </a:ln>
        </p:spPr>
      </p:pic>
      <p:pic>
        <p:nvPicPr>
          <p:cNvPr id="158" name="Google Shape;158;p31"/>
          <p:cNvPicPr preferRelativeResize="0"/>
          <p:nvPr/>
        </p:nvPicPr>
        <p:blipFill>
          <a:blip r:embed="rId4">
            <a:alphaModFix/>
          </a:blip>
          <a:stretch>
            <a:fillRect/>
          </a:stretch>
        </p:blipFill>
        <p:spPr>
          <a:xfrm>
            <a:off x="256125" y="2868500"/>
            <a:ext cx="5907748" cy="1938500"/>
          </a:xfrm>
          <a:prstGeom prst="rect">
            <a:avLst/>
          </a:prstGeom>
          <a:noFill/>
          <a:ln>
            <a:noFill/>
          </a:ln>
        </p:spPr>
      </p:pic>
      <p:pic>
        <p:nvPicPr>
          <p:cNvPr id="159" name="Google Shape;159;p31" title="Screenshot 2026-02-25 211442.png"/>
          <p:cNvPicPr preferRelativeResize="0"/>
          <p:nvPr/>
        </p:nvPicPr>
        <p:blipFill rotWithShape="1">
          <a:blip r:embed="rId5">
            <a:alphaModFix/>
          </a:blip>
          <a:srcRect b="0" l="0" r="53256" t="57756"/>
          <a:stretch/>
        </p:blipFill>
        <p:spPr>
          <a:xfrm>
            <a:off x="3925975" y="1017725"/>
            <a:ext cx="1937425" cy="1285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Grayscale</a:t>
            </a:r>
            <a:endParaRPr/>
          </a:p>
        </p:txBody>
      </p:sp>
      <p:sp>
        <p:nvSpPr>
          <p:cNvPr id="165" name="Google Shape;165;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30% images augmented</a:t>
            </a:r>
            <a:endParaRPr/>
          </a:p>
        </p:txBody>
      </p:sp>
      <p:pic>
        <p:nvPicPr>
          <p:cNvPr id="166" name="Google Shape;166;p32"/>
          <p:cNvPicPr preferRelativeResize="0"/>
          <p:nvPr/>
        </p:nvPicPr>
        <p:blipFill rotWithShape="1">
          <a:blip r:embed="rId3">
            <a:alphaModFix/>
          </a:blip>
          <a:srcRect b="0" l="0" r="0" t="33577"/>
          <a:stretch/>
        </p:blipFill>
        <p:spPr>
          <a:xfrm>
            <a:off x="6715575" y="18825"/>
            <a:ext cx="2428426" cy="5105848"/>
          </a:xfrm>
          <a:prstGeom prst="rect">
            <a:avLst/>
          </a:prstGeom>
          <a:noFill/>
          <a:ln>
            <a:noFill/>
          </a:ln>
        </p:spPr>
      </p:pic>
      <p:pic>
        <p:nvPicPr>
          <p:cNvPr id="167" name="Google Shape;167;p32"/>
          <p:cNvPicPr preferRelativeResize="0"/>
          <p:nvPr/>
        </p:nvPicPr>
        <p:blipFill>
          <a:blip r:embed="rId4">
            <a:alphaModFix/>
          </a:blip>
          <a:stretch>
            <a:fillRect/>
          </a:stretch>
        </p:blipFill>
        <p:spPr>
          <a:xfrm>
            <a:off x="221300" y="2947250"/>
            <a:ext cx="5974723" cy="1960474"/>
          </a:xfrm>
          <a:prstGeom prst="rect">
            <a:avLst/>
          </a:prstGeom>
          <a:noFill/>
          <a:ln>
            <a:noFill/>
          </a:ln>
        </p:spPr>
      </p:pic>
      <p:pic>
        <p:nvPicPr>
          <p:cNvPr id="168" name="Google Shape;168;p32" title="Screenshot 2026-02-25 211457.png"/>
          <p:cNvPicPr preferRelativeResize="0"/>
          <p:nvPr/>
        </p:nvPicPr>
        <p:blipFill rotWithShape="1">
          <a:blip r:embed="rId5">
            <a:alphaModFix/>
          </a:blip>
          <a:srcRect b="0" l="0" r="50566" t="56015"/>
          <a:stretch/>
        </p:blipFill>
        <p:spPr>
          <a:xfrm>
            <a:off x="3887175" y="1152463"/>
            <a:ext cx="1930400" cy="1307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Gaussian Blur</a:t>
            </a:r>
            <a:endParaRPr/>
          </a:p>
        </p:txBody>
      </p:sp>
      <p:sp>
        <p:nvSpPr>
          <p:cNvPr id="174" name="Google Shape;174;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30% images augmented</a:t>
            </a:r>
            <a:endParaRPr/>
          </a:p>
        </p:txBody>
      </p:sp>
      <p:pic>
        <p:nvPicPr>
          <p:cNvPr id="175" name="Google Shape;175;p33"/>
          <p:cNvPicPr preferRelativeResize="0"/>
          <p:nvPr/>
        </p:nvPicPr>
        <p:blipFill rotWithShape="1">
          <a:blip r:embed="rId3">
            <a:alphaModFix/>
          </a:blip>
          <a:srcRect b="0" l="0" r="0" t="33577"/>
          <a:stretch/>
        </p:blipFill>
        <p:spPr>
          <a:xfrm>
            <a:off x="6697661" y="0"/>
            <a:ext cx="2446339" cy="5143501"/>
          </a:xfrm>
          <a:prstGeom prst="rect">
            <a:avLst/>
          </a:prstGeom>
          <a:noFill/>
          <a:ln>
            <a:noFill/>
          </a:ln>
        </p:spPr>
      </p:pic>
      <p:pic>
        <p:nvPicPr>
          <p:cNvPr id="176" name="Google Shape;176;p33"/>
          <p:cNvPicPr preferRelativeResize="0"/>
          <p:nvPr/>
        </p:nvPicPr>
        <p:blipFill>
          <a:blip r:embed="rId4">
            <a:alphaModFix/>
          </a:blip>
          <a:stretch>
            <a:fillRect/>
          </a:stretch>
        </p:blipFill>
        <p:spPr>
          <a:xfrm>
            <a:off x="249750" y="2901450"/>
            <a:ext cx="5974851" cy="1960500"/>
          </a:xfrm>
          <a:prstGeom prst="rect">
            <a:avLst/>
          </a:prstGeom>
          <a:noFill/>
          <a:ln>
            <a:noFill/>
          </a:ln>
        </p:spPr>
      </p:pic>
      <p:pic>
        <p:nvPicPr>
          <p:cNvPr id="177" name="Google Shape;177;p33" title="Screenshot 2026-02-25 211508.png"/>
          <p:cNvPicPr preferRelativeResize="0"/>
          <p:nvPr/>
        </p:nvPicPr>
        <p:blipFill rotWithShape="1">
          <a:blip r:embed="rId5">
            <a:alphaModFix/>
          </a:blip>
          <a:srcRect b="0" l="0" r="51057" t="57865"/>
          <a:stretch/>
        </p:blipFill>
        <p:spPr>
          <a:xfrm>
            <a:off x="3965975" y="1152475"/>
            <a:ext cx="1869950" cy="1252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Cutmix</a:t>
            </a:r>
            <a:endParaRPr/>
          </a:p>
        </p:txBody>
      </p:sp>
      <p:sp>
        <p:nvSpPr>
          <p:cNvPr id="183" name="Google Shape;183;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50% images augmented</a:t>
            </a:r>
            <a:endParaRPr/>
          </a:p>
        </p:txBody>
      </p:sp>
      <p:pic>
        <p:nvPicPr>
          <p:cNvPr id="184" name="Google Shape;184;p34"/>
          <p:cNvPicPr preferRelativeResize="0"/>
          <p:nvPr/>
        </p:nvPicPr>
        <p:blipFill rotWithShape="1">
          <a:blip r:embed="rId3">
            <a:alphaModFix/>
          </a:blip>
          <a:srcRect b="0" l="0" r="0" t="33577"/>
          <a:stretch/>
        </p:blipFill>
        <p:spPr>
          <a:xfrm>
            <a:off x="6697661" y="0"/>
            <a:ext cx="2446339" cy="5143501"/>
          </a:xfrm>
          <a:prstGeom prst="rect">
            <a:avLst/>
          </a:prstGeom>
          <a:noFill/>
          <a:ln>
            <a:noFill/>
          </a:ln>
        </p:spPr>
      </p:pic>
      <p:pic>
        <p:nvPicPr>
          <p:cNvPr id="185" name="Google Shape;185;p34"/>
          <p:cNvPicPr preferRelativeResize="0"/>
          <p:nvPr/>
        </p:nvPicPr>
        <p:blipFill>
          <a:blip r:embed="rId4">
            <a:alphaModFix/>
          </a:blip>
          <a:stretch>
            <a:fillRect/>
          </a:stretch>
        </p:blipFill>
        <p:spPr>
          <a:xfrm>
            <a:off x="257725" y="2919775"/>
            <a:ext cx="6002673" cy="1969650"/>
          </a:xfrm>
          <a:prstGeom prst="rect">
            <a:avLst/>
          </a:prstGeom>
          <a:noFill/>
          <a:ln>
            <a:noFill/>
          </a:ln>
        </p:spPr>
      </p:pic>
      <p:pic>
        <p:nvPicPr>
          <p:cNvPr id="186" name="Google Shape;186;p34" title="Screenshot 2026-02-25 211518.png"/>
          <p:cNvPicPr preferRelativeResize="0"/>
          <p:nvPr/>
        </p:nvPicPr>
        <p:blipFill rotWithShape="1">
          <a:blip r:embed="rId5">
            <a:alphaModFix/>
          </a:blip>
          <a:srcRect b="0" l="0" r="49576" t="57532"/>
          <a:stretch/>
        </p:blipFill>
        <p:spPr>
          <a:xfrm>
            <a:off x="4021950" y="1152475"/>
            <a:ext cx="1685750" cy="1262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CN"/>
              <a:t>All</a:t>
            </a:r>
            <a:endParaRPr/>
          </a:p>
        </p:txBody>
      </p:sp>
      <p:sp>
        <p:nvSpPr>
          <p:cNvPr id="192" name="Google Shape;192;p35"/>
          <p:cNvSpPr txBox="1"/>
          <p:nvPr>
            <p:ph idx="1" type="body"/>
          </p:nvPr>
        </p:nvSpPr>
        <p:spPr>
          <a:xfrm>
            <a:off x="311700" y="1152475"/>
            <a:ext cx="2476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CN"/>
              <a:t>Randomized augmentation of all types</a:t>
            </a:r>
            <a:endParaRPr/>
          </a:p>
        </p:txBody>
      </p:sp>
      <p:pic>
        <p:nvPicPr>
          <p:cNvPr id="193" name="Google Shape;193;p35"/>
          <p:cNvPicPr preferRelativeResize="0"/>
          <p:nvPr/>
        </p:nvPicPr>
        <p:blipFill rotWithShape="1">
          <a:blip r:embed="rId3">
            <a:alphaModFix/>
          </a:blip>
          <a:srcRect b="0" l="0" r="0" t="33577"/>
          <a:stretch/>
        </p:blipFill>
        <p:spPr>
          <a:xfrm>
            <a:off x="6667384" y="0"/>
            <a:ext cx="2476616" cy="5143501"/>
          </a:xfrm>
          <a:prstGeom prst="rect">
            <a:avLst/>
          </a:prstGeom>
          <a:noFill/>
          <a:ln>
            <a:noFill/>
          </a:ln>
        </p:spPr>
      </p:pic>
      <p:pic>
        <p:nvPicPr>
          <p:cNvPr id="194" name="Google Shape;194;p35"/>
          <p:cNvPicPr preferRelativeResize="0"/>
          <p:nvPr/>
        </p:nvPicPr>
        <p:blipFill>
          <a:blip r:embed="rId4">
            <a:alphaModFix/>
          </a:blip>
          <a:stretch>
            <a:fillRect/>
          </a:stretch>
        </p:blipFill>
        <p:spPr>
          <a:xfrm>
            <a:off x="256450" y="3002200"/>
            <a:ext cx="6023424" cy="1976449"/>
          </a:xfrm>
          <a:prstGeom prst="rect">
            <a:avLst/>
          </a:prstGeom>
          <a:noFill/>
          <a:ln>
            <a:noFill/>
          </a:ln>
        </p:spPr>
      </p:pic>
      <p:pic>
        <p:nvPicPr>
          <p:cNvPr id="195" name="Google Shape;195;p35"/>
          <p:cNvPicPr preferRelativeResize="0"/>
          <p:nvPr/>
        </p:nvPicPr>
        <p:blipFill rotWithShape="1">
          <a:blip r:embed="rId5">
            <a:alphaModFix/>
          </a:blip>
          <a:srcRect b="0" l="0" r="46876" t="58973"/>
          <a:stretch/>
        </p:blipFill>
        <p:spPr>
          <a:xfrm>
            <a:off x="3847050" y="1152475"/>
            <a:ext cx="1774413" cy="12634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marR="0" rtl="0" algn="l">
              <a:lnSpc>
                <a:spcPct val="100000"/>
              </a:lnSpc>
              <a:spcBef>
                <a:spcPts val="0"/>
              </a:spcBef>
              <a:spcAft>
                <a:spcPts val="0"/>
              </a:spcAft>
              <a:buClr>
                <a:srgbClr val="000000"/>
              </a:buClr>
              <a:buSzPct val="94000"/>
              <a:buFont typeface="Arial"/>
              <a:buNone/>
            </a:pPr>
            <a:r>
              <a:rPr lang="zh-CN" sz="3300">
                <a:solidFill>
                  <a:srgbClr val="000000"/>
                </a:solidFill>
                <a:latin typeface="Candara"/>
                <a:ea typeface="Candara"/>
                <a:cs typeface="Candara"/>
                <a:sym typeface="Candara"/>
              </a:rPr>
              <a:t>Limitations</a:t>
            </a:r>
            <a:endParaRPr/>
          </a:p>
        </p:txBody>
      </p:sp>
      <p:sp>
        <p:nvSpPr>
          <p:cNvPr id="201" name="Google Shape;201;p36"/>
          <p:cNvSpPr txBox="1"/>
          <p:nvPr>
            <p:ph idx="1" type="body"/>
          </p:nvPr>
        </p:nvSpPr>
        <p:spPr>
          <a:xfrm>
            <a:off x="311700" y="1152475"/>
            <a:ext cx="8520600" cy="163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CN" sz="1400"/>
              <a:t>Fast overfitting (5-6 epochs)</a:t>
            </a:r>
            <a:endParaRPr sz="1400"/>
          </a:p>
          <a:p>
            <a:pPr indent="0" lvl="0" marL="0" rtl="0" algn="l">
              <a:spcBef>
                <a:spcPts val="0"/>
              </a:spcBef>
              <a:spcAft>
                <a:spcPts val="0"/>
              </a:spcAft>
              <a:buNone/>
            </a:pPr>
            <a:r>
              <a:rPr lang="zh-CN" sz="1400"/>
              <a:t>Training accuracy is high, validation plateaus around 80%</a:t>
            </a:r>
            <a:endParaRPr sz="1400"/>
          </a:p>
          <a:p>
            <a:pPr indent="0" lvl="0" marL="0" rtl="0" algn="l">
              <a:spcBef>
                <a:spcPts val="0"/>
              </a:spcBef>
              <a:spcAft>
                <a:spcPts val="0"/>
              </a:spcAft>
              <a:buNone/>
            </a:pPr>
            <a:r>
              <a:rPr lang="zh-CN" sz="1400"/>
              <a:t>Noise at the patch level</a:t>
            </a:r>
            <a:endParaRPr sz="1400"/>
          </a:p>
          <a:p>
            <a:pPr indent="0" lvl="0" marL="0" rtl="0" algn="l">
              <a:spcBef>
                <a:spcPts val="0"/>
              </a:spcBef>
              <a:spcAft>
                <a:spcPts val="0"/>
              </a:spcAft>
              <a:buNone/>
            </a:pPr>
            <a:r>
              <a:rPr lang="zh-CN" sz="1400"/>
              <a:t>~ 400 WSIs → 21k patches</a:t>
            </a:r>
            <a:endParaRPr sz="1400"/>
          </a:p>
          <a:p>
            <a:pPr indent="0" lvl="0" marL="0" rtl="0" algn="l">
              <a:spcBef>
                <a:spcPts val="0"/>
              </a:spcBef>
              <a:spcAft>
                <a:spcPts val="0"/>
              </a:spcAft>
              <a:buNone/>
            </a:pPr>
            <a:r>
              <a:rPr lang="zh-CN" sz="1400"/>
              <a:t>	Potentially </a:t>
            </a:r>
            <a:r>
              <a:rPr lang="zh-CN" sz="1400"/>
              <a:t>reaching</a:t>
            </a:r>
            <a:r>
              <a:rPr lang="zh-CN" sz="1400"/>
              <a:t> model limit</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t/>
            </a:r>
            <a:endParaRPr sz="1400"/>
          </a:p>
          <a:p>
            <a:pPr indent="-317500" lvl="0" marL="457200" rtl="0" algn="l">
              <a:lnSpc>
                <a:spcPct val="100000"/>
              </a:lnSpc>
              <a:spcBef>
                <a:spcPts val="0"/>
              </a:spcBef>
              <a:spcAft>
                <a:spcPts val="0"/>
              </a:spcAft>
              <a:buSzPts val="1400"/>
              <a:buChar char="-"/>
            </a:pPr>
            <a:r>
              <a:rPr lang="zh-CN" sz="1400"/>
              <a:t>Reduce batch size/learning rate</a:t>
            </a:r>
            <a:endParaRPr sz="1400"/>
          </a:p>
          <a:p>
            <a:pPr indent="-317500" lvl="0" marL="457200" rtl="0" algn="l">
              <a:lnSpc>
                <a:spcPct val="100000"/>
              </a:lnSpc>
              <a:spcBef>
                <a:spcPts val="0"/>
              </a:spcBef>
              <a:spcAft>
                <a:spcPts val="0"/>
              </a:spcAft>
              <a:buSzPts val="1400"/>
              <a:buChar char="-"/>
            </a:pPr>
            <a:r>
              <a:rPr lang="zh-CN" sz="1400"/>
              <a:t>Tune augmentation parameters </a:t>
            </a:r>
            <a:endParaRPr sz="1400"/>
          </a:p>
          <a:p>
            <a:pPr indent="-317500" lvl="0" marL="457200" rtl="0" algn="l">
              <a:lnSpc>
                <a:spcPct val="100000"/>
              </a:lnSpc>
              <a:spcBef>
                <a:spcPts val="0"/>
              </a:spcBef>
              <a:spcAft>
                <a:spcPts val="0"/>
              </a:spcAft>
              <a:buSzPts val="1400"/>
              <a:buChar char="-"/>
            </a:pPr>
            <a:r>
              <a:rPr lang="zh-CN" sz="1400"/>
              <a:t>Test other augmentation types and identify most effective</a:t>
            </a:r>
            <a:endParaRPr sz="1400"/>
          </a:p>
          <a:p>
            <a:pPr indent="-317500" lvl="0" marL="457200" rtl="0" algn="l">
              <a:lnSpc>
                <a:spcPct val="100000"/>
              </a:lnSpc>
              <a:spcBef>
                <a:spcPts val="0"/>
              </a:spcBef>
              <a:spcAft>
                <a:spcPts val="0"/>
              </a:spcAft>
              <a:buSzPts val="1400"/>
              <a:buChar char="-"/>
            </a:pPr>
            <a:r>
              <a:rPr lang="zh-CN" sz="1400"/>
              <a:t>Extracting biological features from WSIs</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a:p>
            <a:pPr indent="0" lvl="0" marL="0" rtl="0" algn="l">
              <a:lnSpc>
                <a:spcPct val="100000"/>
              </a:lnSpc>
              <a:spcBef>
                <a:spcPts val="0"/>
              </a:spcBef>
              <a:spcAft>
                <a:spcPts val="0"/>
              </a:spcAft>
              <a:buNone/>
            </a:pPr>
            <a:r>
              <a:t/>
            </a:r>
            <a:endParaRPr sz="1400"/>
          </a:p>
          <a:p>
            <a:pPr indent="0" lvl="0" marL="0" rtl="0" algn="l">
              <a:spcBef>
                <a:spcPts val="0"/>
              </a:spcBef>
              <a:spcAft>
                <a:spcPts val="0"/>
              </a:spcAft>
              <a:buNone/>
            </a:pPr>
            <a:r>
              <a:t/>
            </a:r>
            <a:endParaRPr sz="1400"/>
          </a:p>
        </p:txBody>
      </p:sp>
      <p:sp>
        <p:nvSpPr>
          <p:cNvPr id="202" name="Google Shape;202;p36"/>
          <p:cNvSpPr txBox="1"/>
          <p:nvPr>
            <p:ph type="title"/>
          </p:nvPr>
        </p:nvSpPr>
        <p:spPr>
          <a:xfrm>
            <a:off x="311688" y="26611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4000"/>
              <a:buNone/>
            </a:pPr>
            <a:r>
              <a:rPr lang="zh-CN" sz="3300">
                <a:solidFill>
                  <a:srgbClr val="000000"/>
                </a:solidFill>
                <a:latin typeface="Candara"/>
                <a:ea typeface="Candara"/>
                <a:cs typeface="Candara"/>
                <a:sym typeface="Candara"/>
              </a:rPr>
              <a:t>Potential Solutions</a:t>
            </a:r>
            <a:endParaRPr sz="3300">
              <a:solidFill>
                <a:srgbClr val="000000"/>
              </a:solidFill>
              <a:latin typeface="Candara"/>
              <a:ea typeface="Candara"/>
              <a:cs typeface="Candara"/>
              <a:sym typeface="Canda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182238" y="3073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94000"/>
              <a:buNone/>
            </a:pPr>
            <a:r>
              <a:rPr lang="zh-CN" sz="3300">
                <a:solidFill>
                  <a:srgbClr val="000000"/>
                </a:solidFill>
                <a:latin typeface="Candara"/>
                <a:ea typeface="Candara"/>
                <a:cs typeface="Candara"/>
                <a:sym typeface="Candara"/>
              </a:rPr>
              <a:t>Next Steps</a:t>
            </a:r>
            <a:endParaRPr sz="3300">
              <a:solidFill>
                <a:srgbClr val="000000"/>
              </a:solidFill>
              <a:latin typeface="Candara"/>
              <a:ea typeface="Candara"/>
              <a:cs typeface="Candara"/>
              <a:sym typeface="Candara"/>
            </a:endParaRPr>
          </a:p>
        </p:txBody>
      </p:sp>
      <p:sp>
        <p:nvSpPr>
          <p:cNvPr id="208" name="Google Shape;208;p37"/>
          <p:cNvSpPr txBox="1"/>
          <p:nvPr>
            <p:ph idx="1" type="body"/>
          </p:nvPr>
        </p:nvSpPr>
        <p:spPr>
          <a:xfrm>
            <a:off x="182250" y="941900"/>
            <a:ext cx="8520600" cy="1749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t/>
            </a:r>
            <a:endParaRPr/>
          </a:p>
          <a:p>
            <a:pPr indent="-342900" lvl="0" marL="457200" rtl="0" algn="l">
              <a:lnSpc>
                <a:spcPct val="115000"/>
              </a:lnSpc>
              <a:spcBef>
                <a:spcPts val="0"/>
              </a:spcBef>
              <a:spcAft>
                <a:spcPts val="0"/>
              </a:spcAft>
              <a:buSzPts val="1800"/>
              <a:buChar char="-"/>
            </a:pPr>
            <a:r>
              <a:rPr lang="zh-CN"/>
              <a:t>Continue</a:t>
            </a:r>
            <a:r>
              <a:rPr lang="zh-CN"/>
              <a:t> </a:t>
            </a:r>
            <a:r>
              <a:rPr lang="zh-CN"/>
              <a:t>training</a:t>
            </a:r>
            <a:r>
              <a:rPr lang="zh-CN"/>
              <a:t> with Resnet50 classifier</a:t>
            </a:r>
            <a:endParaRPr/>
          </a:p>
          <a:p>
            <a:pPr indent="-342900" lvl="0" marL="457200" rtl="0" algn="l">
              <a:lnSpc>
                <a:spcPct val="115000"/>
              </a:lnSpc>
              <a:spcBef>
                <a:spcPts val="0"/>
              </a:spcBef>
              <a:spcAft>
                <a:spcPts val="0"/>
              </a:spcAft>
              <a:buSzPts val="1800"/>
              <a:buChar char="-"/>
            </a:pPr>
            <a:r>
              <a:rPr lang="zh-CN"/>
              <a:t>Compare accuracy and F1 score to the ranked WSI images</a:t>
            </a:r>
            <a:endParaRPr/>
          </a:p>
          <a:p>
            <a:pPr indent="-342900" lvl="0" marL="457200" rtl="0" algn="l">
              <a:lnSpc>
                <a:spcPct val="115000"/>
              </a:lnSpc>
              <a:spcBef>
                <a:spcPts val="0"/>
              </a:spcBef>
              <a:spcAft>
                <a:spcPts val="0"/>
              </a:spcAft>
              <a:buSzPts val="1800"/>
              <a:buChar char="-"/>
            </a:pPr>
            <a:r>
              <a:rPr lang="zh-CN"/>
              <a:t>Train on only Hematoxylin part of the WSI </a:t>
            </a:r>
            <a:endParaRPr/>
          </a:p>
          <a:p>
            <a:pPr indent="-342900" lvl="0" marL="457200" rtl="0" algn="l">
              <a:lnSpc>
                <a:spcPct val="115000"/>
              </a:lnSpc>
              <a:spcBef>
                <a:spcPts val="0"/>
              </a:spcBef>
              <a:spcAft>
                <a:spcPts val="0"/>
              </a:spcAft>
              <a:buSzPts val="1800"/>
              <a:buChar char="-"/>
            </a:pPr>
            <a:r>
              <a:rPr lang="zh-CN"/>
              <a:t>Try a different H&amp;E to Spatial Transcriptomics packages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nvSpPr>
        <p:spPr>
          <a:xfrm>
            <a:off x="475500" y="3368350"/>
            <a:ext cx="3753900" cy="8496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0"/>
              </a:spcBef>
              <a:spcAft>
                <a:spcPts val="0"/>
              </a:spcAft>
              <a:buClr>
                <a:srgbClr val="000000"/>
              </a:buClr>
              <a:buSzPts val="5400"/>
              <a:buFont typeface="Arial"/>
              <a:buNone/>
            </a:pPr>
            <a:r>
              <a:rPr b="0" i="0" lang="zh-CN" sz="5400" u="none" cap="none" strike="noStrike">
                <a:solidFill>
                  <a:schemeClr val="dk1"/>
                </a:solidFill>
                <a:latin typeface="Candara"/>
                <a:ea typeface="Candara"/>
                <a:cs typeface="Candara"/>
                <a:sym typeface="Candara"/>
              </a:rPr>
              <a:t>Thank you!</a:t>
            </a:r>
            <a:endParaRPr b="0" i="0" sz="1400" u="none" cap="none" strike="noStrike">
              <a:solidFill>
                <a:schemeClr val="dk1"/>
              </a:solidFill>
              <a:latin typeface="Candara"/>
              <a:ea typeface="Candara"/>
              <a:cs typeface="Candara"/>
              <a:sym typeface="Candara"/>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